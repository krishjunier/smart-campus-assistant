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8" r:id="rId2"/>
    <p:sldId id="259" r:id="rId3"/>
    <p:sldId id="439" r:id="rId4"/>
    <p:sldId id="269" r:id="rId5"/>
    <p:sldId id="260" r:id="rId6"/>
    <p:sldId id="427" r:id="rId7"/>
    <p:sldId id="440" r:id="rId8"/>
    <p:sldId id="441" r:id="rId9"/>
    <p:sldId id="446" r:id="rId10"/>
    <p:sldId id="447" r:id="rId11"/>
    <p:sldId id="452" r:id="rId12"/>
    <p:sldId id="448" r:id="rId13"/>
    <p:sldId id="442" r:id="rId14"/>
    <p:sldId id="458" r:id="rId15"/>
    <p:sldId id="457" r:id="rId16"/>
    <p:sldId id="459" r:id="rId17"/>
    <p:sldId id="460" r:id="rId18"/>
    <p:sldId id="461" r:id="rId19"/>
    <p:sldId id="462" r:id="rId20"/>
    <p:sldId id="463" r:id="rId21"/>
    <p:sldId id="464" r:id="rId22"/>
    <p:sldId id="465" r:id="rId23"/>
    <p:sldId id="466" r:id="rId24"/>
    <p:sldId id="467" r:id="rId25"/>
    <p:sldId id="468" r:id="rId26"/>
    <p:sldId id="469" r:id="rId27"/>
    <p:sldId id="470" r:id="rId28"/>
    <p:sldId id="471" r:id="rId29"/>
    <p:sldId id="472" r:id="rId30"/>
    <p:sldId id="473" r:id="rId31"/>
  </p:sldIdLst>
  <p:sldSz cx="115204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6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p:normalViewPr>
  <p:slideViewPr>
    <p:cSldViewPr snapToGrid="0">
      <p:cViewPr varScale="1">
        <p:scale>
          <a:sx n="79" d="100"/>
          <a:sy n="79" d="100"/>
        </p:scale>
        <p:origin x="974" y="72"/>
      </p:cViewPr>
      <p:guideLst>
        <p:guide orient="horz" pos="2160"/>
        <p:guide pos="36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E8492A-232E-4A92-BF01-745400ED8E98}" type="datetimeFigureOut">
              <a:rPr lang="en-IN" smtClean="0"/>
              <a:t>15-01-2025</a:t>
            </a:fld>
            <a:endParaRPr lang="en-IN"/>
          </a:p>
        </p:txBody>
      </p:sp>
      <p:sp>
        <p:nvSpPr>
          <p:cNvPr id="4" name="Slide Image Placeholder 3"/>
          <p:cNvSpPr>
            <a:spLocks noGrp="1" noRot="1" noChangeAspect="1"/>
          </p:cNvSpPr>
          <p:nvPr>
            <p:ph type="sldImg" idx="2"/>
          </p:nvPr>
        </p:nvSpPr>
        <p:spPr>
          <a:xfrm>
            <a:off x="836613" y="1143000"/>
            <a:ext cx="51847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A3BC1C-E602-441D-9B7B-DA69E30B60A3}" type="slidenum">
              <a:rPr lang="en-IN" smtClean="0"/>
              <a:t>‹#›</a:t>
            </a:fld>
            <a:endParaRPr lang="en-IN"/>
          </a:p>
        </p:txBody>
      </p:sp>
    </p:spTree>
    <p:extLst>
      <p:ext uri="{BB962C8B-B14F-4D97-AF65-F5344CB8AC3E}">
        <p14:creationId xmlns:p14="http://schemas.microsoft.com/office/powerpoint/2010/main" val="1799468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40061" y="1122363"/>
            <a:ext cx="8640366" cy="2387600"/>
          </a:xfrm>
        </p:spPr>
        <p:txBody>
          <a:bodyPr anchor="b"/>
          <a:lstStyle>
            <a:lvl1pPr algn="ctr">
              <a:defRPr sz="5669"/>
            </a:lvl1pPr>
          </a:lstStyle>
          <a:p>
            <a:r>
              <a:rPr lang="en-US"/>
              <a:t>Click to edit Master title style</a:t>
            </a:r>
            <a:endParaRPr lang="en-US" dirty="0"/>
          </a:p>
        </p:txBody>
      </p:sp>
      <p:sp>
        <p:nvSpPr>
          <p:cNvPr id="3" name="Subtitle 2"/>
          <p:cNvSpPr>
            <a:spLocks noGrp="1"/>
          </p:cNvSpPr>
          <p:nvPr>
            <p:ph type="subTitle" idx="1"/>
          </p:nvPr>
        </p:nvSpPr>
        <p:spPr>
          <a:xfrm>
            <a:off x="1440061" y="3602038"/>
            <a:ext cx="8640366" cy="1655762"/>
          </a:xfrm>
        </p:spPr>
        <p:txBody>
          <a:bodyPr/>
          <a:lstStyle>
            <a:lvl1pPr marL="0" indent="0" algn="ctr">
              <a:buNone/>
              <a:defRPr sz="2268"/>
            </a:lvl1pPr>
            <a:lvl2pPr marL="432008" indent="0" algn="ctr">
              <a:buNone/>
              <a:defRPr sz="1890"/>
            </a:lvl2pPr>
            <a:lvl3pPr marL="864017" indent="0" algn="ctr">
              <a:buNone/>
              <a:defRPr sz="1701"/>
            </a:lvl3pPr>
            <a:lvl4pPr marL="1296025" indent="0" algn="ctr">
              <a:buNone/>
              <a:defRPr sz="1512"/>
            </a:lvl4pPr>
            <a:lvl5pPr marL="1728033" indent="0" algn="ctr">
              <a:buNone/>
              <a:defRPr sz="1512"/>
            </a:lvl5pPr>
            <a:lvl6pPr marL="2160041" indent="0" algn="ctr">
              <a:buNone/>
              <a:defRPr sz="1512"/>
            </a:lvl6pPr>
            <a:lvl7pPr marL="2592050" indent="0" algn="ctr">
              <a:buNone/>
              <a:defRPr sz="1512"/>
            </a:lvl7pPr>
            <a:lvl8pPr marL="3024058" indent="0" algn="ctr">
              <a:buNone/>
              <a:defRPr sz="1512"/>
            </a:lvl8pPr>
            <a:lvl9pPr marL="3456066" indent="0" algn="ctr">
              <a:buNone/>
              <a:defRPr sz="151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04EA0E-7668-47D6-B7EA-7A22B14C84FC}" type="datetime1">
              <a:rPr lang="en-IN" smtClean="0"/>
              <a:t>15-01-2025</a:t>
            </a:fld>
            <a:endParaRPr lang="en-IN"/>
          </a:p>
        </p:txBody>
      </p:sp>
      <p:sp>
        <p:nvSpPr>
          <p:cNvPr id="5" name="Footer Placeholder 4"/>
          <p:cNvSpPr>
            <a:spLocks noGrp="1"/>
          </p:cNvSpPr>
          <p:nvPr>
            <p:ph type="ftr" sz="quarter" idx="11"/>
          </p:nvPr>
        </p:nvSpPr>
        <p:spPr/>
        <p:txBody>
          <a:bodyPr/>
          <a:lstStyle/>
          <a:p>
            <a:r>
              <a:rPr lang="pt-BR"/>
              <a:t>AI3021/ITAS/IV CSE/VII SEM/KG-KiTE</a:t>
            </a:r>
            <a:endParaRPr lang="en-IN"/>
          </a:p>
        </p:txBody>
      </p:sp>
      <p:sp>
        <p:nvSpPr>
          <p:cNvPr id="6" name="Slide Number Placeholder 5"/>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1564422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245F53-8C64-4AD9-B9FC-EB7DA5B3558A}" type="datetime1">
              <a:rPr lang="en-IN" smtClean="0"/>
              <a:t>15-01-2025</a:t>
            </a:fld>
            <a:endParaRPr lang="en-IN"/>
          </a:p>
        </p:txBody>
      </p:sp>
      <p:sp>
        <p:nvSpPr>
          <p:cNvPr id="5" name="Footer Placeholder 4"/>
          <p:cNvSpPr>
            <a:spLocks noGrp="1"/>
          </p:cNvSpPr>
          <p:nvPr>
            <p:ph type="ftr" sz="quarter" idx="11"/>
          </p:nvPr>
        </p:nvSpPr>
        <p:spPr/>
        <p:txBody>
          <a:bodyPr/>
          <a:lstStyle/>
          <a:p>
            <a:r>
              <a:rPr lang="pt-BR"/>
              <a:t>AI3021/ITAS/IV CSE/VII SEM/KG-KiTE</a:t>
            </a:r>
            <a:endParaRPr lang="en-IN"/>
          </a:p>
        </p:txBody>
      </p:sp>
      <p:sp>
        <p:nvSpPr>
          <p:cNvPr id="6" name="Slide Number Placeholder 5"/>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3260618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6033" y="1709739"/>
            <a:ext cx="9936421" cy="2852737"/>
          </a:xfrm>
        </p:spPr>
        <p:txBody>
          <a:bodyPr anchor="b"/>
          <a:lstStyle>
            <a:lvl1pPr>
              <a:defRPr sz="5669"/>
            </a:lvl1pPr>
          </a:lstStyle>
          <a:p>
            <a:r>
              <a:rPr lang="en-US"/>
              <a:t>Click to edit Master title style</a:t>
            </a:r>
            <a:endParaRPr lang="en-US" dirty="0"/>
          </a:p>
        </p:txBody>
      </p:sp>
      <p:sp>
        <p:nvSpPr>
          <p:cNvPr id="3" name="Text Placeholder 2"/>
          <p:cNvSpPr>
            <a:spLocks noGrp="1"/>
          </p:cNvSpPr>
          <p:nvPr>
            <p:ph type="body" idx="1"/>
          </p:nvPr>
        </p:nvSpPr>
        <p:spPr>
          <a:xfrm>
            <a:off x="786033" y="4589464"/>
            <a:ext cx="9936421" cy="1500187"/>
          </a:xfrm>
        </p:spPr>
        <p:txBody>
          <a:bodyPr/>
          <a:lstStyle>
            <a:lvl1pPr marL="0" indent="0">
              <a:buNone/>
              <a:defRPr sz="2268">
                <a:solidFill>
                  <a:schemeClr val="tx1">
                    <a:tint val="75000"/>
                  </a:schemeClr>
                </a:solidFill>
              </a:defRPr>
            </a:lvl1pPr>
            <a:lvl2pPr marL="432008" indent="0">
              <a:buNone/>
              <a:defRPr sz="1890">
                <a:solidFill>
                  <a:schemeClr val="tx1">
                    <a:tint val="75000"/>
                  </a:schemeClr>
                </a:solidFill>
              </a:defRPr>
            </a:lvl2pPr>
            <a:lvl3pPr marL="864017" indent="0">
              <a:buNone/>
              <a:defRPr sz="1701">
                <a:solidFill>
                  <a:schemeClr val="tx1">
                    <a:tint val="75000"/>
                  </a:schemeClr>
                </a:solidFill>
              </a:defRPr>
            </a:lvl3pPr>
            <a:lvl4pPr marL="1296025" indent="0">
              <a:buNone/>
              <a:defRPr sz="1512">
                <a:solidFill>
                  <a:schemeClr val="tx1">
                    <a:tint val="75000"/>
                  </a:schemeClr>
                </a:solidFill>
              </a:defRPr>
            </a:lvl4pPr>
            <a:lvl5pPr marL="1728033" indent="0">
              <a:buNone/>
              <a:defRPr sz="1512">
                <a:solidFill>
                  <a:schemeClr val="tx1">
                    <a:tint val="75000"/>
                  </a:schemeClr>
                </a:solidFill>
              </a:defRPr>
            </a:lvl5pPr>
            <a:lvl6pPr marL="2160041" indent="0">
              <a:buNone/>
              <a:defRPr sz="1512">
                <a:solidFill>
                  <a:schemeClr val="tx1">
                    <a:tint val="75000"/>
                  </a:schemeClr>
                </a:solidFill>
              </a:defRPr>
            </a:lvl6pPr>
            <a:lvl7pPr marL="2592050" indent="0">
              <a:buNone/>
              <a:defRPr sz="1512">
                <a:solidFill>
                  <a:schemeClr val="tx1">
                    <a:tint val="75000"/>
                  </a:schemeClr>
                </a:solidFill>
              </a:defRPr>
            </a:lvl7pPr>
            <a:lvl8pPr marL="3024058" indent="0">
              <a:buNone/>
              <a:defRPr sz="1512">
                <a:solidFill>
                  <a:schemeClr val="tx1">
                    <a:tint val="75000"/>
                  </a:schemeClr>
                </a:solidFill>
              </a:defRPr>
            </a:lvl8pPr>
            <a:lvl9pPr marL="3456066" indent="0">
              <a:buNone/>
              <a:defRPr sz="151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36B44-3E00-4AAC-B23C-27D510364CD9}" type="datetime1">
              <a:rPr lang="en-IN" smtClean="0"/>
              <a:t>15-01-2025</a:t>
            </a:fld>
            <a:endParaRPr lang="en-IN"/>
          </a:p>
        </p:txBody>
      </p:sp>
      <p:sp>
        <p:nvSpPr>
          <p:cNvPr id="5" name="Footer Placeholder 4"/>
          <p:cNvSpPr>
            <a:spLocks noGrp="1"/>
          </p:cNvSpPr>
          <p:nvPr>
            <p:ph type="ftr" sz="quarter" idx="11"/>
          </p:nvPr>
        </p:nvSpPr>
        <p:spPr/>
        <p:txBody>
          <a:bodyPr/>
          <a:lstStyle/>
          <a:p>
            <a:r>
              <a:rPr lang="pt-BR"/>
              <a:t>AI3021/ITAS/IV CSE/VII SEM/KG-KiTE</a:t>
            </a:r>
            <a:endParaRPr lang="en-IN"/>
          </a:p>
        </p:txBody>
      </p:sp>
      <p:sp>
        <p:nvSpPr>
          <p:cNvPr id="6" name="Slide Number Placeholder 5"/>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242418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92034" y="1825625"/>
            <a:ext cx="489620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32247" y="1825625"/>
            <a:ext cx="489620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281191-A67A-4838-949F-AE4980347AD0}" type="datetime1">
              <a:rPr lang="en-IN" smtClean="0"/>
              <a:t>15-01-2025</a:t>
            </a:fld>
            <a:endParaRPr lang="en-IN"/>
          </a:p>
        </p:txBody>
      </p:sp>
      <p:sp>
        <p:nvSpPr>
          <p:cNvPr id="6" name="Footer Placeholder 5"/>
          <p:cNvSpPr>
            <a:spLocks noGrp="1"/>
          </p:cNvSpPr>
          <p:nvPr>
            <p:ph type="ftr" sz="quarter" idx="11"/>
          </p:nvPr>
        </p:nvSpPr>
        <p:spPr/>
        <p:txBody>
          <a:bodyPr/>
          <a:lstStyle/>
          <a:p>
            <a:r>
              <a:rPr lang="pt-BR"/>
              <a:t>AI3021/ITAS/IV CSE/VII SEM/KG-KiTE</a:t>
            </a:r>
            <a:endParaRPr lang="en-IN"/>
          </a:p>
        </p:txBody>
      </p:sp>
      <p:sp>
        <p:nvSpPr>
          <p:cNvPr id="7" name="Slide Number Placeholder 6"/>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3503017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93534" y="365126"/>
            <a:ext cx="99364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793535" y="1681163"/>
            <a:ext cx="4873706" cy="823912"/>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Click to edit Master text styles</a:t>
            </a:r>
          </a:p>
        </p:txBody>
      </p:sp>
      <p:sp>
        <p:nvSpPr>
          <p:cNvPr id="4" name="Content Placeholder 3"/>
          <p:cNvSpPr>
            <a:spLocks noGrp="1"/>
          </p:cNvSpPr>
          <p:nvPr>
            <p:ph sz="half" idx="2"/>
          </p:nvPr>
        </p:nvSpPr>
        <p:spPr>
          <a:xfrm>
            <a:off x="793535" y="2505075"/>
            <a:ext cx="487370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32247" y="1681163"/>
            <a:ext cx="4897708" cy="823912"/>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Click to edit Master text styles</a:t>
            </a:r>
          </a:p>
        </p:txBody>
      </p:sp>
      <p:sp>
        <p:nvSpPr>
          <p:cNvPr id="6" name="Content Placeholder 5"/>
          <p:cNvSpPr>
            <a:spLocks noGrp="1"/>
          </p:cNvSpPr>
          <p:nvPr>
            <p:ph sz="quarter" idx="4"/>
          </p:nvPr>
        </p:nvSpPr>
        <p:spPr>
          <a:xfrm>
            <a:off x="5832247" y="2505075"/>
            <a:ext cx="48977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37C867-9D39-4AAC-9E1C-8DEE024E986E}" type="datetime1">
              <a:rPr lang="en-IN" smtClean="0"/>
              <a:t>15-01-2025</a:t>
            </a:fld>
            <a:endParaRPr lang="en-IN"/>
          </a:p>
        </p:txBody>
      </p:sp>
      <p:sp>
        <p:nvSpPr>
          <p:cNvPr id="8" name="Footer Placeholder 7"/>
          <p:cNvSpPr>
            <a:spLocks noGrp="1"/>
          </p:cNvSpPr>
          <p:nvPr>
            <p:ph type="ftr" sz="quarter" idx="11"/>
          </p:nvPr>
        </p:nvSpPr>
        <p:spPr/>
        <p:txBody>
          <a:bodyPr/>
          <a:lstStyle/>
          <a:p>
            <a:r>
              <a:rPr lang="pt-BR"/>
              <a:t>AI3021/ITAS/IV CSE/VII SEM/KG-KiTE</a:t>
            </a:r>
            <a:endParaRPr lang="en-IN"/>
          </a:p>
        </p:txBody>
      </p:sp>
      <p:sp>
        <p:nvSpPr>
          <p:cNvPr id="9" name="Slide Number Placeholder 8"/>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571885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C50886-D3A2-413F-AA7D-956E4C07089F}" type="datetime1">
              <a:rPr lang="en-IN" smtClean="0"/>
              <a:t>15-01-2025</a:t>
            </a:fld>
            <a:endParaRPr lang="en-IN"/>
          </a:p>
        </p:txBody>
      </p:sp>
      <p:sp>
        <p:nvSpPr>
          <p:cNvPr id="4" name="Footer Placeholder 3"/>
          <p:cNvSpPr>
            <a:spLocks noGrp="1"/>
          </p:cNvSpPr>
          <p:nvPr>
            <p:ph type="ftr" sz="quarter" idx="11"/>
          </p:nvPr>
        </p:nvSpPr>
        <p:spPr/>
        <p:txBody>
          <a:bodyPr/>
          <a:lstStyle/>
          <a:p>
            <a:r>
              <a:rPr lang="pt-BR"/>
              <a:t>AI3021/ITAS/IV CSE/VII SEM/KG-KiTE</a:t>
            </a:r>
            <a:endParaRPr lang="en-IN"/>
          </a:p>
        </p:txBody>
      </p:sp>
      <p:sp>
        <p:nvSpPr>
          <p:cNvPr id="5" name="Slide Number Placeholder 4"/>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219666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92E4A-787A-4105-BD20-F38D09CD547D}" type="datetime1">
              <a:rPr lang="en-IN" smtClean="0"/>
              <a:t>15-01-2025</a:t>
            </a:fld>
            <a:endParaRPr lang="en-IN"/>
          </a:p>
        </p:txBody>
      </p:sp>
      <p:sp>
        <p:nvSpPr>
          <p:cNvPr id="3" name="Footer Placeholder 2"/>
          <p:cNvSpPr>
            <a:spLocks noGrp="1"/>
          </p:cNvSpPr>
          <p:nvPr>
            <p:ph type="ftr" sz="quarter" idx="11"/>
          </p:nvPr>
        </p:nvSpPr>
        <p:spPr/>
        <p:txBody>
          <a:bodyPr/>
          <a:lstStyle/>
          <a:p>
            <a:r>
              <a:rPr lang="pt-BR"/>
              <a:t>AI3021/ITAS/IV CSE/VII SEM/KG-KiTE</a:t>
            </a:r>
            <a:endParaRPr lang="en-IN"/>
          </a:p>
        </p:txBody>
      </p:sp>
      <p:sp>
        <p:nvSpPr>
          <p:cNvPr id="4" name="Slide Number Placeholder 3"/>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3752491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3535" y="457200"/>
            <a:ext cx="3715657" cy="1600200"/>
          </a:xfrm>
        </p:spPr>
        <p:txBody>
          <a:bodyPr anchor="b"/>
          <a:lstStyle>
            <a:lvl1pPr>
              <a:defRPr sz="3024"/>
            </a:lvl1pPr>
          </a:lstStyle>
          <a:p>
            <a:r>
              <a:rPr lang="en-US"/>
              <a:t>Click to edit Master title style</a:t>
            </a:r>
            <a:endParaRPr lang="en-US" dirty="0"/>
          </a:p>
        </p:txBody>
      </p:sp>
      <p:sp>
        <p:nvSpPr>
          <p:cNvPr id="3" name="Content Placeholder 2"/>
          <p:cNvSpPr>
            <a:spLocks noGrp="1"/>
          </p:cNvSpPr>
          <p:nvPr>
            <p:ph idx="1"/>
          </p:nvPr>
        </p:nvSpPr>
        <p:spPr>
          <a:xfrm>
            <a:off x="4897708" y="987426"/>
            <a:ext cx="5832247" cy="4873625"/>
          </a:xfrm>
        </p:spPr>
        <p:txBody>
          <a:bodyPr/>
          <a:lstStyle>
            <a:lvl1pPr>
              <a:defRPr sz="3024"/>
            </a:lvl1pPr>
            <a:lvl2pPr>
              <a:defRPr sz="2646"/>
            </a:lvl2pPr>
            <a:lvl3pPr>
              <a:defRPr sz="2268"/>
            </a:lvl3pPr>
            <a:lvl4pPr>
              <a:defRPr sz="1890"/>
            </a:lvl4pPr>
            <a:lvl5pPr>
              <a:defRPr sz="1890"/>
            </a:lvl5pPr>
            <a:lvl6pPr>
              <a:defRPr sz="1890"/>
            </a:lvl6pPr>
            <a:lvl7pPr>
              <a:defRPr sz="1890"/>
            </a:lvl7pPr>
            <a:lvl8pPr>
              <a:defRPr sz="1890"/>
            </a:lvl8pPr>
            <a:lvl9pPr>
              <a:defRPr sz="18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3535" y="2057400"/>
            <a:ext cx="3715657" cy="381158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en-US"/>
              <a:t>Click to edit Master text styles</a:t>
            </a:r>
          </a:p>
        </p:txBody>
      </p:sp>
      <p:sp>
        <p:nvSpPr>
          <p:cNvPr id="5" name="Date Placeholder 4"/>
          <p:cNvSpPr>
            <a:spLocks noGrp="1"/>
          </p:cNvSpPr>
          <p:nvPr>
            <p:ph type="dt" sz="half" idx="10"/>
          </p:nvPr>
        </p:nvSpPr>
        <p:spPr/>
        <p:txBody>
          <a:bodyPr/>
          <a:lstStyle/>
          <a:p>
            <a:fld id="{DBF40BB2-439E-4EE1-8580-290799105EE2}" type="datetime1">
              <a:rPr lang="en-IN" smtClean="0"/>
              <a:t>15-01-2025</a:t>
            </a:fld>
            <a:endParaRPr lang="en-IN"/>
          </a:p>
        </p:txBody>
      </p:sp>
      <p:sp>
        <p:nvSpPr>
          <p:cNvPr id="6" name="Footer Placeholder 5"/>
          <p:cNvSpPr>
            <a:spLocks noGrp="1"/>
          </p:cNvSpPr>
          <p:nvPr>
            <p:ph type="ftr" sz="quarter" idx="11"/>
          </p:nvPr>
        </p:nvSpPr>
        <p:spPr/>
        <p:txBody>
          <a:bodyPr/>
          <a:lstStyle/>
          <a:p>
            <a:r>
              <a:rPr lang="pt-BR"/>
              <a:t>AI3021/ITAS/IV CSE/VII SEM/KG-KiTE</a:t>
            </a:r>
            <a:endParaRPr lang="en-IN"/>
          </a:p>
        </p:txBody>
      </p:sp>
      <p:sp>
        <p:nvSpPr>
          <p:cNvPr id="7" name="Slide Number Placeholder 6"/>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1239532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3535" y="457200"/>
            <a:ext cx="3715657" cy="1600200"/>
          </a:xfrm>
        </p:spPr>
        <p:txBody>
          <a:bodyPr anchor="b"/>
          <a:lstStyle>
            <a:lvl1pPr>
              <a:defRPr sz="3024"/>
            </a:lvl1pPr>
          </a:lstStyle>
          <a:p>
            <a:r>
              <a:rPr lang="en-US"/>
              <a:t>Click to edit Master title style</a:t>
            </a:r>
            <a:endParaRPr lang="en-US" dirty="0"/>
          </a:p>
        </p:txBody>
      </p:sp>
      <p:sp>
        <p:nvSpPr>
          <p:cNvPr id="3" name="Picture Placeholder 2"/>
          <p:cNvSpPr>
            <a:spLocks noGrp="1" noChangeAspect="1"/>
          </p:cNvSpPr>
          <p:nvPr>
            <p:ph type="pic" idx="1"/>
          </p:nvPr>
        </p:nvSpPr>
        <p:spPr>
          <a:xfrm>
            <a:off x="4897708" y="987426"/>
            <a:ext cx="5832247" cy="4873625"/>
          </a:xfrm>
        </p:spPr>
        <p:txBody>
          <a:bodyPr anchor="t"/>
          <a:lstStyle>
            <a:lvl1pPr marL="0" indent="0">
              <a:buNone/>
              <a:defRPr sz="3024"/>
            </a:lvl1pPr>
            <a:lvl2pPr marL="432008" indent="0">
              <a:buNone/>
              <a:defRPr sz="2646"/>
            </a:lvl2pPr>
            <a:lvl3pPr marL="864017" indent="0">
              <a:buNone/>
              <a:defRPr sz="2268"/>
            </a:lvl3pPr>
            <a:lvl4pPr marL="1296025" indent="0">
              <a:buNone/>
              <a:defRPr sz="1890"/>
            </a:lvl4pPr>
            <a:lvl5pPr marL="1728033" indent="0">
              <a:buNone/>
              <a:defRPr sz="1890"/>
            </a:lvl5pPr>
            <a:lvl6pPr marL="2160041" indent="0">
              <a:buNone/>
              <a:defRPr sz="1890"/>
            </a:lvl6pPr>
            <a:lvl7pPr marL="2592050" indent="0">
              <a:buNone/>
              <a:defRPr sz="1890"/>
            </a:lvl7pPr>
            <a:lvl8pPr marL="3024058" indent="0">
              <a:buNone/>
              <a:defRPr sz="1890"/>
            </a:lvl8pPr>
            <a:lvl9pPr marL="3456066" indent="0">
              <a:buNone/>
              <a:defRPr sz="1890"/>
            </a:lvl9pPr>
          </a:lstStyle>
          <a:p>
            <a:r>
              <a:rPr lang="en-US"/>
              <a:t>Click icon to add picture</a:t>
            </a:r>
            <a:endParaRPr lang="en-US" dirty="0"/>
          </a:p>
        </p:txBody>
      </p:sp>
      <p:sp>
        <p:nvSpPr>
          <p:cNvPr id="4" name="Text Placeholder 3"/>
          <p:cNvSpPr>
            <a:spLocks noGrp="1"/>
          </p:cNvSpPr>
          <p:nvPr>
            <p:ph type="body" sz="half" idx="2"/>
          </p:nvPr>
        </p:nvSpPr>
        <p:spPr>
          <a:xfrm>
            <a:off x="793535" y="2057400"/>
            <a:ext cx="3715657" cy="381158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en-US"/>
              <a:t>Click to edit Master text styles</a:t>
            </a:r>
          </a:p>
        </p:txBody>
      </p:sp>
      <p:sp>
        <p:nvSpPr>
          <p:cNvPr id="5" name="Date Placeholder 4"/>
          <p:cNvSpPr>
            <a:spLocks noGrp="1"/>
          </p:cNvSpPr>
          <p:nvPr>
            <p:ph type="dt" sz="half" idx="10"/>
          </p:nvPr>
        </p:nvSpPr>
        <p:spPr/>
        <p:txBody>
          <a:bodyPr/>
          <a:lstStyle/>
          <a:p>
            <a:fld id="{DA7574C9-4EFD-44F3-849F-6577D0DEEB24}" type="datetime1">
              <a:rPr lang="en-IN" smtClean="0"/>
              <a:t>15-01-2025</a:t>
            </a:fld>
            <a:endParaRPr lang="en-IN"/>
          </a:p>
        </p:txBody>
      </p:sp>
      <p:sp>
        <p:nvSpPr>
          <p:cNvPr id="6" name="Footer Placeholder 5"/>
          <p:cNvSpPr>
            <a:spLocks noGrp="1"/>
          </p:cNvSpPr>
          <p:nvPr>
            <p:ph type="ftr" sz="quarter" idx="11"/>
          </p:nvPr>
        </p:nvSpPr>
        <p:spPr/>
        <p:txBody>
          <a:bodyPr/>
          <a:lstStyle/>
          <a:p>
            <a:r>
              <a:rPr lang="pt-BR"/>
              <a:t>AI3021/ITAS/IV CSE/VII SEM/KG-KiTE</a:t>
            </a:r>
            <a:endParaRPr lang="en-IN"/>
          </a:p>
        </p:txBody>
      </p:sp>
      <p:sp>
        <p:nvSpPr>
          <p:cNvPr id="7" name="Slide Number Placeholder 6"/>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2339447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A27484-AAFD-4544-AFE9-FFCD9C1B86BA}" type="datetime1">
              <a:rPr lang="en-IN" smtClean="0"/>
              <a:t>15-01-2025</a:t>
            </a:fld>
            <a:endParaRPr lang="en-IN"/>
          </a:p>
        </p:txBody>
      </p:sp>
      <p:sp>
        <p:nvSpPr>
          <p:cNvPr id="5" name="Footer Placeholder 4"/>
          <p:cNvSpPr>
            <a:spLocks noGrp="1"/>
          </p:cNvSpPr>
          <p:nvPr>
            <p:ph type="ftr" sz="quarter" idx="11"/>
          </p:nvPr>
        </p:nvSpPr>
        <p:spPr/>
        <p:txBody>
          <a:bodyPr/>
          <a:lstStyle/>
          <a:p>
            <a:r>
              <a:rPr lang="pt-BR"/>
              <a:t>AI3021/ITAS/IV CSE/VII SEM/KG-KiTE</a:t>
            </a:r>
            <a:endParaRPr lang="en-IN"/>
          </a:p>
        </p:txBody>
      </p:sp>
      <p:sp>
        <p:nvSpPr>
          <p:cNvPr id="6" name="Slide Number Placeholder 5"/>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1618307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44349" y="365125"/>
            <a:ext cx="248410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92033" y="365125"/>
            <a:ext cx="730831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03BC99-E364-4398-A84A-1EF4E05E48EB}" type="datetime1">
              <a:rPr lang="en-IN" smtClean="0"/>
              <a:t>15-01-2025</a:t>
            </a:fld>
            <a:endParaRPr lang="en-IN"/>
          </a:p>
        </p:txBody>
      </p:sp>
      <p:sp>
        <p:nvSpPr>
          <p:cNvPr id="5" name="Footer Placeholder 4"/>
          <p:cNvSpPr>
            <a:spLocks noGrp="1"/>
          </p:cNvSpPr>
          <p:nvPr>
            <p:ph type="ftr" sz="quarter" idx="11"/>
          </p:nvPr>
        </p:nvSpPr>
        <p:spPr/>
        <p:txBody>
          <a:bodyPr/>
          <a:lstStyle/>
          <a:p>
            <a:r>
              <a:rPr lang="pt-BR"/>
              <a:t>AI3021/ITAS/IV CSE/VII SEM/KG-KiTE</a:t>
            </a:r>
            <a:endParaRPr lang="en-IN"/>
          </a:p>
        </p:txBody>
      </p:sp>
      <p:sp>
        <p:nvSpPr>
          <p:cNvPr id="6" name="Slide Number Placeholder 5"/>
          <p:cNvSpPr>
            <a:spLocks noGrp="1"/>
          </p:cNvSpPr>
          <p:nvPr>
            <p:ph type="sldNum" sz="quarter" idx="12"/>
          </p:nvPr>
        </p:nvSpPr>
        <p:spPr/>
        <p:txBody>
          <a:bodyPr/>
          <a:lstStyle/>
          <a:p>
            <a:fld id="{1844DA51-A060-4547-B1AD-1FCA2B089608}" type="slidenum">
              <a:rPr lang="en-IN" smtClean="0"/>
              <a:t>‹#›</a:t>
            </a:fld>
            <a:endParaRPr lang="en-IN"/>
          </a:p>
        </p:txBody>
      </p:sp>
    </p:spTree>
    <p:extLst>
      <p:ext uri="{BB962C8B-B14F-4D97-AF65-F5344CB8AC3E}">
        <p14:creationId xmlns:p14="http://schemas.microsoft.com/office/powerpoint/2010/main" val="2623231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034" y="365126"/>
            <a:ext cx="9936421"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92034" y="1825625"/>
            <a:ext cx="993642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2033" y="6356351"/>
            <a:ext cx="2592110" cy="365125"/>
          </a:xfrm>
          <a:prstGeom prst="rect">
            <a:avLst/>
          </a:prstGeom>
        </p:spPr>
        <p:txBody>
          <a:bodyPr vert="horz" lIns="91440" tIns="45720" rIns="91440" bIns="45720" rtlCol="0" anchor="ctr"/>
          <a:lstStyle>
            <a:lvl1pPr algn="l">
              <a:defRPr sz="1134">
                <a:solidFill>
                  <a:schemeClr val="tx1">
                    <a:tint val="75000"/>
                  </a:schemeClr>
                </a:solidFill>
              </a:defRPr>
            </a:lvl1pPr>
          </a:lstStyle>
          <a:p>
            <a:fld id="{DBABD2B7-4B55-44D3-8411-6C65DEB52E4F}" type="datetime1">
              <a:rPr lang="en-IN" smtClean="0"/>
              <a:t>15-01-2025</a:t>
            </a:fld>
            <a:endParaRPr lang="en-IN"/>
          </a:p>
        </p:txBody>
      </p:sp>
      <p:sp>
        <p:nvSpPr>
          <p:cNvPr id="5" name="Footer Placeholder 4"/>
          <p:cNvSpPr>
            <a:spLocks noGrp="1"/>
          </p:cNvSpPr>
          <p:nvPr>
            <p:ph type="ftr" sz="quarter" idx="3"/>
          </p:nvPr>
        </p:nvSpPr>
        <p:spPr>
          <a:xfrm>
            <a:off x="3816162" y="6356351"/>
            <a:ext cx="3888165" cy="365125"/>
          </a:xfrm>
          <a:prstGeom prst="rect">
            <a:avLst/>
          </a:prstGeom>
        </p:spPr>
        <p:txBody>
          <a:bodyPr vert="horz" lIns="91440" tIns="45720" rIns="91440" bIns="45720" rtlCol="0" anchor="ctr"/>
          <a:lstStyle>
            <a:lvl1pPr algn="ctr">
              <a:defRPr sz="1134">
                <a:solidFill>
                  <a:schemeClr val="tx1">
                    <a:tint val="75000"/>
                  </a:schemeClr>
                </a:solidFill>
              </a:defRPr>
            </a:lvl1pPr>
          </a:lstStyle>
          <a:p>
            <a:r>
              <a:rPr lang="pt-BR"/>
              <a:t>AI3021/ITAS/IV CSE/VII SEM/KG-KiTE</a:t>
            </a:r>
            <a:endParaRPr lang="en-IN"/>
          </a:p>
        </p:txBody>
      </p:sp>
      <p:sp>
        <p:nvSpPr>
          <p:cNvPr id="6" name="Slide Number Placeholder 5"/>
          <p:cNvSpPr>
            <a:spLocks noGrp="1"/>
          </p:cNvSpPr>
          <p:nvPr>
            <p:ph type="sldNum" sz="quarter" idx="4"/>
          </p:nvPr>
        </p:nvSpPr>
        <p:spPr>
          <a:xfrm>
            <a:off x="8136345" y="6356351"/>
            <a:ext cx="2592110" cy="365125"/>
          </a:xfrm>
          <a:prstGeom prst="rect">
            <a:avLst/>
          </a:prstGeom>
        </p:spPr>
        <p:txBody>
          <a:bodyPr vert="horz" lIns="91440" tIns="45720" rIns="91440" bIns="45720" rtlCol="0" anchor="ctr"/>
          <a:lstStyle>
            <a:lvl1pPr algn="r">
              <a:defRPr sz="1134">
                <a:solidFill>
                  <a:schemeClr val="tx1">
                    <a:tint val="75000"/>
                  </a:schemeClr>
                </a:solidFill>
              </a:defRPr>
            </a:lvl1pPr>
          </a:lstStyle>
          <a:p>
            <a:fld id="{1844DA51-A060-4547-B1AD-1FCA2B089608}" type="slidenum">
              <a:rPr lang="en-IN" smtClean="0"/>
              <a:t>‹#›</a:t>
            </a:fld>
            <a:endParaRPr lang="en-IN"/>
          </a:p>
        </p:txBody>
      </p:sp>
    </p:spTree>
    <p:extLst>
      <p:ext uri="{BB962C8B-B14F-4D97-AF65-F5344CB8AC3E}">
        <p14:creationId xmlns:p14="http://schemas.microsoft.com/office/powerpoint/2010/main" val="3278481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864017" rtl="0" eaLnBrk="1" latinLnBrk="0" hangingPunct="1">
        <a:lnSpc>
          <a:spcPct val="90000"/>
        </a:lnSpc>
        <a:spcBef>
          <a:spcPct val="0"/>
        </a:spcBef>
        <a:buNone/>
        <a:defRPr sz="4158" kern="1200">
          <a:solidFill>
            <a:schemeClr val="tx1"/>
          </a:solidFill>
          <a:latin typeface="+mj-lt"/>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mn-lt"/>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mn-lt"/>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mn-lt"/>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introduction-to-angularjs/" TargetMode="External"/><Relationship Id="rId2" Type="http://schemas.openxmlformats.org/officeDocument/2006/relationships/hyperlink" Target="https://www.geeksforgeeks.org/react/" TargetMode="External"/><Relationship Id="rId1" Type="http://schemas.openxmlformats.org/officeDocument/2006/relationships/slideLayout" Target="../slideLayouts/slideLayout2.xml"/><Relationship Id="rId4" Type="http://schemas.openxmlformats.org/officeDocument/2006/relationships/hyperlink" Target="https://www.geeksforgeeks.org/vue-j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java-tutorial/" TargetMode="External"/><Relationship Id="rId2" Type="http://schemas.openxmlformats.org/officeDocument/2006/relationships/hyperlink" Target="https://www.geeksforgeeks.org/php-tutorials/" TargetMode="External"/><Relationship Id="rId1" Type="http://schemas.openxmlformats.org/officeDocument/2006/relationships/slideLayout" Target="../slideLayouts/slideLayout2.xml"/><Relationship Id="rId4" Type="http://schemas.openxmlformats.org/officeDocument/2006/relationships/hyperlink" Target="https://www.geeksforgeeks.org/python-programming-languag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ruby-programming-language/" TargetMode="External"/><Relationship Id="rId2" Type="http://schemas.openxmlformats.org/officeDocument/2006/relationships/hyperlink" Target="https://www.geeksforgeeks.org/nodejs-tutorials/" TargetMode="External"/><Relationship Id="rId1" Type="http://schemas.openxmlformats.org/officeDocument/2006/relationships/slideLayout" Target="../slideLayouts/slideLayout2.xml"/><Relationship Id="rId4" Type="http://schemas.openxmlformats.org/officeDocument/2006/relationships/hyperlink" Target="https://www.geeksforgeeks.org/c-sharp-tutoria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E919EEF-96CD-FCEE-9C45-851D480D6A1F}"/>
              </a:ext>
            </a:extLst>
          </p:cNvPr>
          <p:cNvSpPr/>
          <p:nvPr/>
        </p:nvSpPr>
        <p:spPr>
          <a:xfrm>
            <a:off x="0" y="-6477"/>
            <a:ext cx="11520488" cy="6864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itle 5"/>
          <p:cNvSpPr>
            <a:spLocks noGrp="1"/>
          </p:cNvSpPr>
          <p:nvPr>
            <p:ph type="title"/>
          </p:nvPr>
        </p:nvSpPr>
        <p:spPr/>
        <p:txBody>
          <a:bodyPr>
            <a:noAutofit/>
          </a:bodyPr>
          <a:lstStyle/>
          <a:p>
            <a:pPr algn="ctr"/>
            <a:endParaRPr lang="en-IN" sz="1600" dirty="0"/>
          </a:p>
        </p:txBody>
      </p:sp>
      <p:sp>
        <p:nvSpPr>
          <p:cNvPr id="7" name="Content Placeholder 6"/>
          <p:cNvSpPr>
            <a:spLocks noGrp="1"/>
          </p:cNvSpPr>
          <p:nvPr>
            <p:ph idx="1"/>
          </p:nvPr>
        </p:nvSpPr>
        <p:spPr>
          <a:xfrm>
            <a:off x="576025" y="2223695"/>
            <a:ext cx="10368439" cy="3920759"/>
          </a:xfrm>
        </p:spPr>
        <p:txBody>
          <a:bodyPr>
            <a:normAutofit/>
          </a:bodyPr>
          <a:lstStyle/>
          <a:p>
            <a:pPr marL="0" indent="0" algn="ctr">
              <a:buNone/>
            </a:pPr>
            <a:r>
              <a:rPr lang="en-US" sz="2400" b="1" dirty="0">
                <a:solidFill>
                  <a:srgbClr val="002060"/>
                </a:solidFill>
                <a:latin typeface="Times New Roman" pitchFamily="18" charset="0"/>
                <a:cs typeface="Times New Roman" pitchFamily="18" charset="0"/>
              </a:rPr>
              <a:t>Department of Computer Science and Engineering</a:t>
            </a:r>
            <a:endParaRPr lang="en-US" sz="2400" dirty="0">
              <a:solidFill>
                <a:srgbClr val="002060"/>
              </a:solidFill>
              <a:latin typeface="Times New Roman" pitchFamily="18" charset="0"/>
              <a:cs typeface="Times New Roman" pitchFamily="18" charset="0"/>
            </a:endParaRPr>
          </a:p>
          <a:p>
            <a:pPr marL="0" indent="0">
              <a:lnSpc>
                <a:spcPct val="150000"/>
              </a:lnSpc>
              <a:buNone/>
            </a:pPr>
            <a:r>
              <a:rPr lang="en-US" sz="2400" dirty="0">
                <a:latin typeface="Times New Roman" pitchFamily="18" charset="0"/>
                <a:cs typeface="Times New Roman" pitchFamily="18" charset="0"/>
              </a:rPr>
              <a:t>Name of the Faculty    : </a:t>
            </a:r>
            <a:r>
              <a:rPr lang="en-US" sz="2400" dirty="0" err="1">
                <a:latin typeface="Times New Roman" pitchFamily="18" charset="0"/>
                <a:cs typeface="Times New Roman" pitchFamily="18" charset="0"/>
              </a:rPr>
              <a:t>Ms.Suriya.A</a:t>
            </a:r>
            <a:endParaRPr lang="en-US" sz="2400" dirty="0">
              <a:latin typeface="Times New Roman" pitchFamily="18" charset="0"/>
              <a:cs typeface="Times New Roman" pitchFamily="18" charset="0"/>
            </a:endParaRPr>
          </a:p>
          <a:p>
            <a:pPr marL="0" indent="0">
              <a:lnSpc>
                <a:spcPct val="150000"/>
              </a:lnSpc>
              <a:buNone/>
            </a:pPr>
            <a:r>
              <a:rPr lang="en-US" sz="2400" dirty="0">
                <a:latin typeface="Times New Roman" pitchFamily="18" charset="0"/>
                <a:cs typeface="Times New Roman" pitchFamily="18" charset="0"/>
              </a:rPr>
              <a:t>Subject Name &amp; Code : APP DEVELOPMENT &amp; CCS332</a:t>
            </a:r>
          </a:p>
          <a:p>
            <a:pPr marL="0" indent="0">
              <a:lnSpc>
                <a:spcPct val="150000"/>
              </a:lnSpc>
              <a:buNone/>
            </a:pPr>
            <a:r>
              <a:rPr lang="en-US" sz="2400" dirty="0">
                <a:latin typeface="Times New Roman" pitchFamily="18" charset="0"/>
                <a:cs typeface="Times New Roman" pitchFamily="18" charset="0"/>
              </a:rPr>
              <a:t>Branch &amp; Department : Computer Science and Engineering</a:t>
            </a:r>
          </a:p>
          <a:p>
            <a:pPr marL="0" indent="0">
              <a:lnSpc>
                <a:spcPct val="150000"/>
              </a:lnSpc>
              <a:buNone/>
            </a:pPr>
            <a:r>
              <a:rPr lang="en-US" sz="2400" dirty="0">
                <a:latin typeface="Times New Roman" pitchFamily="18" charset="0"/>
                <a:cs typeface="Times New Roman" pitchFamily="18" charset="0"/>
              </a:rPr>
              <a:t>Year &amp; Semester         : III / V</a:t>
            </a:r>
          </a:p>
          <a:p>
            <a:pPr marL="0" indent="0">
              <a:lnSpc>
                <a:spcPct val="150000"/>
              </a:lnSpc>
              <a:buNone/>
            </a:pPr>
            <a:r>
              <a:rPr lang="en-US" sz="2400" dirty="0">
                <a:latin typeface="Times New Roman" pitchFamily="18" charset="0"/>
                <a:cs typeface="Times New Roman" pitchFamily="18" charset="0"/>
              </a:rPr>
              <a:t>Academic Year            :2024-25</a:t>
            </a:r>
            <a:endParaRPr lang="en-IN" sz="2400" dirty="0">
              <a:latin typeface="Times New Roman" pitchFamily="18" charset="0"/>
              <a:cs typeface="Times New Roman" pitchFamily="18" charset="0"/>
            </a:endParaRPr>
          </a:p>
        </p:txBody>
      </p:sp>
      <p:sp>
        <p:nvSpPr>
          <p:cNvPr id="4" name="Rectangle 3"/>
          <p:cNvSpPr/>
          <p:nvPr/>
        </p:nvSpPr>
        <p:spPr>
          <a:xfrm>
            <a:off x="5610591" y="3244360"/>
            <a:ext cx="237533" cy="369281"/>
          </a:xfrm>
          <a:prstGeom prst="rect">
            <a:avLst/>
          </a:prstGeom>
        </p:spPr>
        <p:txBody>
          <a:bodyPr wrap="none">
            <a:spAutoFit/>
          </a:bodyPr>
          <a:lstStyle/>
          <a:p>
            <a:r>
              <a:rPr lang="en-IN" dirty="0"/>
              <a:t> </a:t>
            </a:r>
          </a:p>
        </p:txBody>
      </p:sp>
      <p:sp>
        <p:nvSpPr>
          <p:cNvPr id="5" name="Rectangle 4"/>
          <p:cNvSpPr/>
          <p:nvPr/>
        </p:nvSpPr>
        <p:spPr>
          <a:xfrm>
            <a:off x="5610591" y="3244360"/>
            <a:ext cx="237533" cy="369281"/>
          </a:xfrm>
          <a:prstGeom prst="rect">
            <a:avLst/>
          </a:prstGeom>
        </p:spPr>
        <p:txBody>
          <a:bodyPr wrap="none">
            <a:spAutoFit/>
          </a:bodyPr>
          <a:lstStyle/>
          <a:p>
            <a:r>
              <a:rPr lang="en-IN" dirty="0"/>
              <a:t> </a:t>
            </a:r>
          </a:p>
        </p:txBody>
      </p:sp>
      <p:sp>
        <p:nvSpPr>
          <p:cNvPr id="13" name="Rectangle 12">
            <a:extLst>
              <a:ext uri="{FF2B5EF4-FFF2-40B4-BE49-F238E27FC236}">
                <a16:creationId xmlns:a16="http://schemas.microsoft.com/office/drawing/2014/main" id="{4385F007-961D-0CEF-6C86-8755592CFF6A}"/>
              </a:ext>
            </a:extLst>
          </p:cNvPr>
          <p:cNvSpPr/>
          <p:nvPr/>
        </p:nvSpPr>
        <p:spPr>
          <a:xfrm>
            <a:off x="0" y="127073"/>
            <a:ext cx="11520488" cy="14629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err="1">
                <a:solidFill>
                  <a:srgbClr val="002060"/>
                </a:solidFill>
              </a:rPr>
              <a:t>KGiSL</a:t>
            </a:r>
            <a:r>
              <a:rPr lang="en-IN" sz="4000" b="1" dirty="0">
                <a:solidFill>
                  <a:srgbClr val="002060"/>
                </a:solidFill>
              </a:rPr>
              <a:t> Institute of Technology</a:t>
            </a:r>
            <a:br>
              <a:rPr lang="en-IN" sz="2400" dirty="0">
                <a:solidFill>
                  <a:srgbClr val="002060"/>
                </a:solidFill>
              </a:rPr>
            </a:br>
            <a:r>
              <a:rPr lang="en-IN" sz="1600" dirty="0">
                <a:solidFill>
                  <a:srgbClr val="002060"/>
                </a:solidFill>
                <a:latin typeface="+mn-lt"/>
              </a:rPr>
              <a:t>(Approved by AICTE, New Delhi; Affiliated to Anna University, Chennai)</a:t>
            </a:r>
            <a:br>
              <a:rPr lang="en-IN" sz="1600" dirty="0">
                <a:solidFill>
                  <a:srgbClr val="002060"/>
                </a:solidFill>
                <a:latin typeface="+mn-lt"/>
              </a:rPr>
            </a:br>
            <a:r>
              <a:rPr lang="en-IN" sz="1600" dirty="0">
                <a:solidFill>
                  <a:srgbClr val="002060"/>
                </a:solidFill>
                <a:latin typeface="+mn-lt"/>
              </a:rPr>
              <a:t>Recognized by UGC, Accredited by NBA (IT)</a:t>
            </a:r>
            <a:br>
              <a:rPr lang="en-IN" sz="1600" dirty="0">
                <a:solidFill>
                  <a:srgbClr val="002060"/>
                </a:solidFill>
                <a:latin typeface="+mn-lt"/>
              </a:rPr>
            </a:br>
            <a:r>
              <a:rPr lang="en-IN" sz="1600" dirty="0">
                <a:solidFill>
                  <a:srgbClr val="002060"/>
                </a:solidFill>
                <a:latin typeface="+mn-lt"/>
              </a:rPr>
              <a:t>365, </a:t>
            </a:r>
            <a:r>
              <a:rPr lang="en-IN" sz="1600" dirty="0" err="1">
                <a:solidFill>
                  <a:srgbClr val="002060"/>
                </a:solidFill>
                <a:latin typeface="+mn-lt"/>
              </a:rPr>
              <a:t>KGiSL</a:t>
            </a:r>
            <a:r>
              <a:rPr lang="en-IN" sz="1600" dirty="0">
                <a:solidFill>
                  <a:srgbClr val="002060"/>
                </a:solidFill>
                <a:latin typeface="+mn-lt"/>
              </a:rPr>
              <a:t> Campus, </a:t>
            </a:r>
            <a:r>
              <a:rPr lang="en-IN" sz="1600" dirty="0" err="1">
                <a:solidFill>
                  <a:srgbClr val="002060"/>
                </a:solidFill>
                <a:latin typeface="+mn-lt"/>
              </a:rPr>
              <a:t>Thudiyalur</a:t>
            </a:r>
            <a:r>
              <a:rPr lang="en-IN" sz="1600" dirty="0">
                <a:solidFill>
                  <a:srgbClr val="002060"/>
                </a:solidFill>
                <a:latin typeface="+mn-lt"/>
              </a:rPr>
              <a:t> Road, </a:t>
            </a:r>
            <a:r>
              <a:rPr lang="en-IN" sz="1600" dirty="0" err="1">
                <a:solidFill>
                  <a:srgbClr val="002060"/>
                </a:solidFill>
                <a:latin typeface="+mn-lt"/>
              </a:rPr>
              <a:t>Saravanampatti</a:t>
            </a:r>
            <a:r>
              <a:rPr lang="en-IN" sz="1600" dirty="0">
                <a:solidFill>
                  <a:srgbClr val="002060"/>
                </a:solidFill>
                <a:latin typeface="+mn-lt"/>
              </a:rPr>
              <a:t>, Coimbatore – 641035.</a:t>
            </a:r>
            <a:br>
              <a:rPr lang="en-IN" sz="2400" dirty="0">
                <a:solidFill>
                  <a:srgbClr val="002060"/>
                </a:solidFill>
              </a:rPr>
            </a:br>
            <a:endParaRPr lang="en-IN" dirty="0">
              <a:solidFill>
                <a:srgbClr val="002060"/>
              </a:solidFill>
            </a:endParaRPr>
          </a:p>
        </p:txBody>
      </p:sp>
      <p:pic>
        <p:nvPicPr>
          <p:cNvPr id="12" name="Picture 11">
            <a:extLst>
              <a:ext uri="{FF2B5EF4-FFF2-40B4-BE49-F238E27FC236}">
                <a16:creationId xmlns:a16="http://schemas.microsoft.com/office/drawing/2014/main" id="{8FD87003-FF82-FE86-78B2-722276A5C5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96390" y="142167"/>
            <a:ext cx="1084319" cy="1084319"/>
          </a:xfrm>
          <a:prstGeom prst="rect">
            <a:avLst/>
          </a:prstGeom>
        </p:spPr>
      </p:pic>
      <p:pic>
        <p:nvPicPr>
          <p:cNvPr id="17" name="Picture 16">
            <a:extLst>
              <a:ext uri="{FF2B5EF4-FFF2-40B4-BE49-F238E27FC236}">
                <a16:creationId xmlns:a16="http://schemas.microsoft.com/office/drawing/2014/main" id="{5C63113B-A3C1-6F0E-4C50-2B01372FAE9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564" t="1" r="11463" b="1651"/>
          <a:stretch/>
        </p:blipFill>
        <p:spPr>
          <a:xfrm>
            <a:off x="239779" y="47449"/>
            <a:ext cx="1270903" cy="1374386"/>
          </a:xfrm>
          <a:prstGeom prst="rect">
            <a:avLst/>
          </a:prstGeom>
        </p:spPr>
      </p:pic>
      <p:cxnSp>
        <p:nvCxnSpPr>
          <p:cNvPr id="9" name="Straight Connector 8"/>
          <p:cNvCxnSpPr>
            <a:cxnSpLocks/>
          </p:cNvCxnSpPr>
          <p:nvPr/>
        </p:nvCxnSpPr>
        <p:spPr>
          <a:xfrm>
            <a:off x="111967" y="1662696"/>
            <a:ext cx="11168743" cy="0"/>
          </a:xfrm>
          <a:prstGeom prst="line">
            <a:avLst/>
          </a:prstGeom>
          <a:ln w="53975" cmpd="sng">
            <a:solidFill>
              <a:schemeClr val="accent1">
                <a:shade val="95000"/>
                <a:satMod val="105000"/>
              </a:schemeClr>
            </a:solidFill>
          </a:ln>
          <a:effectLst>
            <a:glow rad="165100">
              <a:schemeClr val="accent1">
                <a:alpha val="0"/>
              </a:schemeClr>
            </a:glow>
            <a:outerShdw dist="50800" sx="1000" sy="1000" algn="ctr" rotWithShape="0">
              <a:srgbClr val="000000"/>
            </a:outerShdw>
            <a:softEdge rad="0"/>
          </a:effectLst>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AAE446DB-09C4-A1EB-A7A1-F2B927AA1DF4}"/>
              </a:ext>
            </a:extLst>
          </p:cNvPr>
          <p:cNvSpPr>
            <a:spLocks noGrp="1"/>
          </p:cNvSpPr>
          <p:nvPr>
            <p:ph type="ftr" sz="quarter" idx="11"/>
          </p:nvPr>
        </p:nvSpPr>
        <p:spPr/>
        <p:txBody>
          <a:bodyPr/>
          <a:lstStyle/>
          <a:p>
            <a:r>
              <a:rPr lang="pt-BR" dirty="0"/>
              <a:t>CCS332/AD/III CSE/VI SEM/KG-KiTE</a:t>
            </a:r>
            <a:endParaRPr lang="en-IN" dirty="0"/>
          </a:p>
        </p:txBody>
      </p:sp>
    </p:spTree>
    <p:extLst>
      <p:ext uri="{BB962C8B-B14F-4D97-AF65-F5344CB8AC3E}">
        <p14:creationId xmlns:p14="http://schemas.microsoft.com/office/powerpoint/2010/main" val="4038094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18B7-E275-E7B9-47DD-4E83D14E4EA9}"/>
              </a:ext>
            </a:extLst>
          </p:cNvPr>
          <p:cNvSpPr>
            <a:spLocks noGrp="1"/>
          </p:cNvSpPr>
          <p:nvPr>
            <p:ph type="title"/>
          </p:nvPr>
        </p:nvSpPr>
        <p:spPr>
          <a:xfrm>
            <a:off x="792034" y="337416"/>
            <a:ext cx="9936421" cy="1325563"/>
          </a:xfrm>
        </p:spPr>
        <p:txBody>
          <a:bodyPr/>
          <a:lstStyle/>
          <a:p>
            <a:r>
              <a:rPr lang="en-IN" sz="4400" b="1" dirty="0">
                <a:solidFill>
                  <a:schemeClr val="bg1"/>
                </a:solidFill>
                <a:latin typeface="Times New Roman" panose="02020603050405020304" pitchFamily="18" charset="0"/>
                <a:cs typeface="Times New Roman" panose="02020603050405020304" pitchFamily="18" charset="0"/>
              </a:rPr>
              <a:t>Prerequisites</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8B6534-034A-9FAB-3DD3-F5C3CB284FA8}"/>
              </a:ext>
            </a:extLst>
          </p:cNvPr>
          <p:cNvSpPr>
            <a:spLocks noGrp="1"/>
          </p:cNvSpPr>
          <p:nvPr>
            <p:ph idx="1"/>
          </p:nvPr>
        </p:nvSpPr>
        <p:spPr/>
        <p:txBody>
          <a:bodyPr>
            <a:normAutofit/>
          </a:bodyPr>
          <a:lstStyle/>
          <a:p>
            <a:pPr algn="just">
              <a:lnSpc>
                <a:spcPct val="200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Basic programming skills and knowledge of web technologies (HTML, CSS, JavaScript).</a:t>
            </a:r>
          </a:p>
          <a:p>
            <a:pPr algn="just">
              <a:lnSpc>
                <a:spcPct val="200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Familiarity with mobile platforms (Android/iOS) and object-oriented programming concepts.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ooter Placeholder 1">
            <a:extLst>
              <a:ext uri="{FF2B5EF4-FFF2-40B4-BE49-F238E27FC236}">
                <a16:creationId xmlns:a16="http://schemas.microsoft.com/office/drawing/2014/main" id="{9BB2B06F-C1EA-84B4-5CC7-CBA9CAED4FDF}"/>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096225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18B7-E275-E7B9-47DD-4E83D14E4EA9}"/>
              </a:ext>
            </a:extLst>
          </p:cNvPr>
          <p:cNvSpPr>
            <a:spLocks noGrp="1"/>
          </p:cNvSpPr>
          <p:nvPr>
            <p:ph type="title"/>
          </p:nvPr>
        </p:nvSpPr>
        <p:spPr>
          <a:xfrm>
            <a:off x="792034" y="337416"/>
            <a:ext cx="9936421" cy="1325563"/>
          </a:xfrm>
        </p:spPr>
        <p:txBody>
          <a:bodyPr/>
          <a:lstStyle/>
          <a:p>
            <a:r>
              <a:rPr lang="en-IN" sz="4400" b="1" dirty="0">
                <a:solidFill>
                  <a:schemeClr val="bg1"/>
                </a:solidFill>
              </a:rPr>
              <a:t>Syllabus</a:t>
            </a:r>
            <a:endParaRPr lang="en-IN" b="1" dirty="0">
              <a:solidFill>
                <a:schemeClr val="bg1"/>
              </a:solidFill>
            </a:endParaRPr>
          </a:p>
        </p:txBody>
      </p:sp>
      <p:sp>
        <p:nvSpPr>
          <p:cNvPr id="3" name="Content Placeholder 2">
            <a:extLst>
              <a:ext uri="{FF2B5EF4-FFF2-40B4-BE49-F238E27FC236}">
                <a16:creationId xmlns:a16="http://schemas.microsoft.com/office/drawing/2014/main" id="{078B6534-034A-9FAB-3DD3-F5C3CB284FA8}"/>
              </a:ext>
            </a:extLst>
          </p:cNvPr>
          <p:cNvSpPr>
            <a:spLocks noGrp="1"/>
          </p:cNvSpPr>
          <p:nvPr>
            <p:ph idx="1"/>
          </p:nvPr>
        </p:nvSpPr>
        <p:spPr/>
        <p:txBody>
          <a:bodyPr>
            <a:normAutofit/>
          </a:bodyPr>
          <a:lstStyle/>
          <a:p>
            <a:pPr marL="0" indent="0" algn="just">
              <a:lnSpc>
                <a:spcPct val="200000"/>
              </a:lnSpc>
              <a:spcAft>
                <a:spcPts val="800"/>
              </a:spcAft>
              <a:buNone/>
            </a:pPr>
            <a:r>
              <a:rPr lang="en-IN" sz="2000" b="1" kern="100" dirty="0">
                <a:latin typeface="Times New Roman" panose="02020603050405020304" pitchFamily="18" charset="0"/>
                <a:ea typeface="Calibri" panose="020F0502020204030204" pitchFamily="34" charset="0"/>
                <a:cs typeface="Times New Roman" panose="02020603050405020304" pitchFamily="18" charset="0"/>
              </a:rPr>
              <a:t>UNIT I - </a:t>
            </a:r>
            <a:r>
              <a:rPr lang="en-US" sz="2000" b="1" kern="100" dirty="0">
                <a:latin typeface="Times New Roman" panose="02020603050405020304" pitchFamily="18" charset="0"/>
                <a:ea typeface="Calibri" panose="020F0502020204030204" pitchFamily="34" charset="0"/>
                <a:cs typeface="Times New Roman" panose="02020603050405020304" pitchFamily="18" charset="0"/>
              </a:rPr>
              <a:t>FUNDAMENTALS OF MOBILE &amp; WEB APPLICATION DEVELOPMENT </a:t>
            </a:r>
          </a:p>
          <a:p>
            <a:pPr marL="0" indent="0" algn="just">
              <a:lnSpc>
                <a:spcPct val="200000"/>
              </a:lnSpc>
              <a:spcAft>
                <a:spcPts val="800"/>
              </a:spcAft>
              <a:buNone/>
            </a:pPr>
            <a:r>
              <a:rPr lang="en-US" sz="2000" b="1" dirty="0">
                <a:solidFill>
                  <a:srgbClr val="7030A0"/>
                </a:solidFill>
                <a:latin typeface="Times New Roman" panose="02020603050405020304" pitchFamily="18" charset="0"/>
                <a:cs typeface="Times New Roman" panose="02020603050405020304" pitchFamily="18" charset="0"/>
              </a:rPr>
              <a:t>Basics of Web and Mobile application development, </a:t>
            </a:r>
            <a:r>
              <a:rPr lang="en-US" sz="2000" dirty="0">
                <a:latin typeface="Times New Roman" panose="02020603050405020304" pitchFamily="18" charset="0"/>
                <a:cs typeface="Times New Roman" panose="02020603050405020304" pitchFamily="18" charset="0"/>
              </a:rPr>
              <a:t>Native App, Hybrid App, Cross-platform App, What is Progressive Web App, Responsive Web design.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Footer Placeholder 1">
            <a:extLst>
              <a:ext uri="{FF2B5EF4-FFF2-40B4-BE49-F238E27FC236}">
                <a16:creationId xmlns:a16="http://schemas.microsoft.com/office/drawing/2014/main" id="{6AA2342B-604D-0B7E-0368-7789F659EFBB}"/>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747153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6B51-DC37-02A9-8800-C40AA091D6C1}"/>
              </a:ext>
            </a:extLst>
          </p:cNvPr>
          <p:cNvSpPr>
            <a:spLocks noGrp="1"/>
          </p:cNvSpPr>
          <p:nvPr>
            <p:ph type="title"/>
          </p:nvPr>
        </p:nvSpPr>
        <p:spPr/>
        <p:txBody>
          <a:bodyPr/>
          <a:lstStyle/>
          <a:p>
            <a:r>
              <a:rPr lang="en-IN" b="1" dirty="0">
                <a:solidFill>
                  <a:schemeClr val="bg1"/>
                </a:solidFill>
              </a:rPr>
              <a:t>Course Outcome</a:t>
            </a:r>
          </a:p>
        </p:txBody>
      </p:sp>
      <p:sp>
        <p:nvSpPr>
          <p:cNvPr id="3" name="Content Placeholder 2">
            <a:extLst>
              <a:ext uri="{FF2B5EF4-FFF2-40B4-BE49-F238E27FC236}">
                <a16:creationId xmlns:a16="http://schemas.microsoft.com/office/drawing/2014/main" id="{294094C2-3759-AE06-5585-CA8EAB69D86D}"/>
              </a:ext>
            </a:extLst>
          </p:cNvPr>
          <p:cNvSpPr>
            <a:spLocks noGrp="1"/>
          </p:cNvSpPr>
          <p:nvPr>
            <p:ph idx="1"/>
          </p:nvPr>
        </p:nvSpPr>
        <p:spPr/>
        <p:txBody>
          <a:bodyPr/>
          <a:lstStyle/>
          <a:p>
            <a:pPr marL="0" indent="0">
              <a:buNone/>
            </a:pPr>
            <a:endParaRPr lang="en-US" sz="2800" b="1" dirty="0"/>
          </a:p>
          <a:p>
            <a:pPr marL="0" indent="0">
              <a:buNone/>
            </a:pPr>
            <a:endParaRPr lang="en-US" sz="2800" b="1" dirty="0"/>
          </a:p>
          <a:p>
            <a:pPr marL="0" indent="0">
              <a:buNone/>
            </a:pPr>
            <a:r>
              <a:rPr lang="en-US" sz="2800" b="1" dirty="0"/>
              <a:t>CO1: Explain the fundamentals for  developing web and mobile applications using native and cross platform Apps-K2</a:t>
            </a:r>
            <a:endParaRPr lang="en-IN" sz="2800" dirty="0"/>
          </a:p>
        </p:txBody>
      </p:sp>
      <p:sp>
        <p:nvSpPr>
          <p:cNvPr id="4" name="Footer Placeholder 1">
            <a:extLst>
              <a:ext uri="{FF2B5EF4-FFF2-40B4-BE49-F238E27FC236}">
                <a16:creationId xmlns:a16="http://schemas.microsoft.com/office/drawing/2014/main" id="{9F56868B-CFB8-F102-F72F-2EAA8723F59D}"/>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99794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72781-1DD5-AB43-974A-73B45B5C2ACF}"/>
              </a:ext>
            </a:extLst>
          </p:cNvPr>
          <p:cNvSpPr>
            <a:spLocks noGrp="1"/>
          </p:cNvSpPr>
          <p:nvPr>
            <p:ph type="title"/>
          </p:nvPr>
        </p:nvSpPr>
        <p:spPr/>
        <p:txBody>
          <a:bodyPr/>
          <a:lstStyle/>
          <a:p>
            <a:pPr algn="ctr"/>
            <a:r>
              <a:rPr lang="en-IN" sz="4000" b="1" dirty="0">
                <a:solidFill>
                  <a:schemeClr val="bg1"/>
                </a:solidFill>
              </a:rPr>
              <a:t>TOPIC</a:t>
            </a:r>
            <a:endParaRPr lang="en-IN" b="1" dirty="0">
              <a:solidFill>
                <a:schemeClr val="bg1"/>
              </a:solidFill>
            </a:endParaRPr>
          </a:p>
        </p:txBody>
      </p:sp>
      <p:sp>
        <p:nvSpPr>
          <p:cNvPr id="3" name="Content Placeholder 2">
            <a:extLst>
              <a:ext uri="{FF2B5EF4-FFF2-40B4-BE49-F238E27FC236}">
                <a16:creationId xmlns:a16="http://schemas.microsoft.com/office/drawing/2014/main" id="{B680B915-BB60-BB58-A0F2-68A4E0B38049}"/>
              </a:ext>
            </a:extLst>
          </p:cNvPr>
          <p:cNvSpPr>
            <a:spLocks noGrp="1"/>
          </p:cNvSpPr>
          <p:nvPr>
            <p:ph idx="1"/>
          </p:nvPr>
        </p:nvSpPr>
        <p:spPr/>
        <p:txBody>
          <a:bodyPr/>
          <a:lstStyle/>
          <a:p>
            <a:pPr marL="0" indent="0" algn="ctr" eaLnBrk="0" hangingPunct="0">
              <a:spcBef>
                <a:spcPct val="20000"/>
              </a:spcBef>
              <a:buNone/>
              <a:defRPr/>
            </a:pPr>
            <a:endParaRPr lang="en-IN" sz="4400" dirty="0">
              <a:latin typeface="+mn-lt"/>
              <a:cs typeface="Arial" charset="0"/>
            </a:endParaRPr>
          </a:p>
          <a:p>
            <a:pPr marL="0" indent="0" algn="ctr" eaLnBrk="0" hangingPunct="0">
              <a:spcBef>
                <a:spcPct val="20000"/>
              </a:spcBef>
              <a:buNone/>
              <a:defRPr/>
            </a:pPr>
            <a:endParaRPr lang="en-IN" sz="4400" dirty="0">
              <a:cs typeface="Arial" charset="0"/>
            </a:endParaRPr>
          </a:p>
          <a:p>
            <a:pPr marL="0" indent="0" algn="ctr">
              <a:buNone/>
            </a:pPr>
            <a:r>
              <a:rPr lang="en-US" sz="4400" b="1" dirty="0">
                <a:solidFill>
                  <a:srgbClr val="002060"/>
                </a:solidFill>
                <a:latin typeface="Times New Roman" panose="02020603050405020304" pitchFamily="18" charset="0"/>
                <a:cs typeface="Times New Roman" panose="02020603050405020304" pitchFamily="18" charset="0"/>
              </a:rPr>
              <a:t>Basics of Web and Mobile application development</a:t>
            </a:r>
            <a:endParaRPr lang="en-US" sz="4400" dirty="0">
              <a:solidFill>
                <a:srgbClr val="002060"/>
              </a:solidFill>
            </a:endParaRPr>
          </a:p>
        </p:txBody>
      </p:sp>
      <p:sp>
        <p:nvSpPr>
          <p:cNvPr id="4" name="Footer Placeholder 1">
            <a:extLst>
              <a:ext uri="{FF2B5EF4-FFF2-40B4-BE49-F238E27FC236}">
                <a16:creationId xmlns:a16="http://schemas.microsoft.com/office/drawing/2014/main" id="{B2F90FFF-D094-E0D3-02F8-DBA47A87E4EE}"/>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827242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a:t>
            </a:r>
          </a:p>
        </p:txBody>
      </p:sp>
      <p:sp>
        <p:nvSpPr>
          <p:cNvPr id="3" name="Content Placeholder 2"/>
          <p:cNvSpPr>
            <a:spLocks noGrp="1"/>
          </p:cNvSpPr>
          <p:nvPr>
            <p:ph idx="1"/>
          </p:nvPr>
        </p:nvSpPr>
        <p:spPr/>
        <p:txBody>
          <a:bodyPr>
            <a:normAutofit lnSpcReduction="100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Basics of Web Development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Web development refers to the </a:t>
            </a:r>
            <a:r>
              <a:rPr lang="en-US" b="1" dirty="0">
                <a:solidFill>
                  <a:srgbClr val="7030A0"/>
                </a:solidFill>
                <a:latin typeface="Times New Roman" panose="02020603050405020304" pitchFamily="18" charset="0"/>
                <a:cs typeface="Times New Roman" panose="02020603050405020304" pitchFamily="18" charset="0"/>
              </a:rPr>
              <a:t>creating, building, and maintaining of websites</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includes aspects such as </a:t>
            </a:r>
            <a:r>
              <a:rPr lang="en-US" b="1" dirty="0">
                <a:solidFill>
                  <a:srgbClr val="7030A0"/>
                </a:solidFill>
                <a:latin typeface="Times New Roman" panose="02020603050405020304" pitchFamily="18" charset="0"/>
                <a:cs typeface="Times New Roman" panose="02020603050405020304" pitchFamily="18" charset="0"/>
              </a:rPr>
              <a:t>web design, web publishing, web programming, and database management</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the </a:t>
            </a:r>
            <a:r>
              <a:rPr lang="en-US" b="1" dirty="0">
                <a:solidFill>
                  <a:srgbClr val="7030A0"/>
                </a:solidFill>
                <a:latin typeface="Times New Roman" panose="02020603050405020304" pitchFamily="18" charset="0"/>
                <a:cs typeface="Times New Roman" panose="02020603050405020304" pitchFamily="18" charset="0"/>
              </a:rPr>
              <a:t>creation</a:t>
            </a:r>
            <a:r>
              <a:rPr lang="en-US" dirty="0">
                <a:latin typeface="Times New Roman" panose="02020603050405020304" pitchFamily="18" charset="0"/>
                <a:cs typeface="Times New Roman" panose="02020603050405020304" pitchFamily="18" charset="0"/>
              </a:rPr>
              <a:t> of an </a:t>
            </a:r>
            <a:r>
              <a:rPr lang="en-US" b="1" dirty="0">
                <a:solidFill>
                  <a:srgbClr val="7030A0"/>
                </a:solidFill>
                <a:latin typeface="Times New Roman" panose="02020603050405020304" pitchFamily="18" charset="0"/>
                <a:cs typeface="Times New Roman" panose="02020603050405020304" pitchFamily="18" charset="0"/>
              </a:rPr>
              <a:t>application that works over the internet </a:t>
            </a:r>
            <a:r>
              <a:rPr lang="en-US" dirty="0">
                <a:latin typeface="Times New Roman" panose="02020603050405020304" pitchFamily="18" charset="0"/>
                <a:cs typeface="Times New Roman" panose="02020603050405020304" pitchFamily="18" charset="0"/>
              </a:rPr>
              <a:t>i.e. </a:t>
            </a:r>
            <a:r>
              <a:rPr lang="en-US" b="1" u="sng" dirty="0">
                <a:solidFill>
                  <a:srgbClr val="00B050"/>
                </a:solidFill>
                <a:latin typeface="Times New Roman" panose="02020603050405020304" pitchFamily="18" charset="0"/>
                <a:cs typeface="Times New Roman" panose="02020603050405020304" pitchFamily="18" charset="0"/>
              </a:rPr>
              <a:t>websites</a:t>
            </a:r>
            <a:r>
              <a:rPr lang="en-US" dirty="0">
                <a:latin typeface="Times New Roman" panose="02020603050405020304" pitchFamily="18" charset="0"/>
                <a:cs typeface="Times New Roman" panose="02020603050405020304" pitchFamily="18" charset="0"/>
              </a:rPr>
              <a:t>.</a:t>
            </a:r>
          </a:p>
        </p:txBody>
      </p:sp>
      <p:sp>
        <p:nvSpPr>
          <p:cNvPr id="4" name="Footer Placeholder 1">
            <a:extLst>
              <a:ext uri="{FF2B5EF4-FFF2-40B4-BE49-F238E27FC236}">
                <a16:creationId xmlns:a16="http://schemas.microsoft.com/office/drawing/2014/main" id="{32E21C5A-4710-8E6B-D9C2-37D9AE5DB089}"/>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43378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25293-D3DF-1786-364E-2D98E0EAD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AB64D-0B7E-9C75-2F4A-77F6FDBE54C9}"/>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a:t>
            </a:r>
          </a:p>
        </p:txBody>
      </p:sp>
      <p:sp>
        <p:nvSpPr>
          <p:cNvPr id="3" name="Content Placeholder 2">
            <a:extLst>
              <a:ext uri="{FF2B5EF4-FFF2-40B4-BE49-F238E27FC236}">
                <a16:creationId xmlns:a16="http://schemas.microsoft.com/office/drawing/2014/main" id="{645543D4-5C78-BD78-6EF1-765179F5AE59}"/>
              </a:ext>
            </a:extLst>
          </p:cNvPr>
          <p:cNvSpPr>
            <a:spLocks noGrp="1"/>
          </p:cNvSpPr>
          <p:nvPr>
            <p:ph idx="1"/>
          </p:nvPr>
        </p:nvSpPr>
        <p:spPr/>
        <p:txBody>
          <a:bodyPr>
            <a:normAutofit/>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Two Types </a:t>
            </a:r>
          </a:p>
          <a:p>
            <a:pPr marL="0" indent="0" algn="just">
              <a:lnSpc>
                <a:spcPct val="150000"/>
              </a:lnSpc>
              <a:buNone/>
            </a:pPr>
            <a:r>
              <a:rPr lang="en-US" dirty="0">
                <a:latin typeface="Times New Roman" panose="02020603050405020304" pitchFamily="18" charset="0"/>
                <a:cs typeface="Times New Roman" panose="02020603050405020304" pitchFamily="18" charset="0"/>
              </a:rPr>
              <a:t>Web Development can be classified into two ways: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Frontend Development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Backend Development</a:t>
            </a:r>
          </a:p>
        </p:txBody>
      </p:sp>
      <p:sp>
        <p:nvSpPr>
          <p:cNvPr id="4" name="Footer Placeholder 1">
            <a:extLst>
              <a:ext uri="{FF2B5EF4-FFF2-40B4-BE49-F238E27FC236}">
                <a16:creationId xmlns:a16="http://schemas.microsoft.com/office/drawing/2014/main" id="{31596C43-8DF2-5F8E-1152-882BA716186C}"/>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2551309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B2C90-8716-4913-D169-537EE6E30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D16C2-584B-3DE6-C2FF-53D0D7E64677}"/>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Frontend Development</a:t>
            </a:r>
          </a:p>
        </p:txBody>
      </p:sp>
      <p:sp>
        <p:nvSpPr>
          <p:cNvPr id="3" name="Content Placeholder 2">
            <a:extLst>
              <a:ext uri="{FF2B5EF4-FFF2-40B4-BE49-F238E27FC236}">
                <a16:creationId xmlns:a16="http://schemas.microsoft.com/office/drawing/2014/main" id="{937DD497-DC7F-F79F-F748-352498B03857}"/>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Face of the Web. </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part of a website where the </a:t>
            </a:r>
            <a:r>
              <a:rPr lang="en-US" sz="2800" b="1" dirty="0">
                <a:solidFill>
                  <a:srgbClr val="7030A0"/>
                </a:solidFill>
                <a:latin typeface="Times New Roman" panose="02020603050405020304" pitchFamily="18" charset="0"/>
                <a:cs typeface="Times New Roman" panose="02020603050405020304" pitchFamily="18" charset="0"/>
              </a:rPr>
              <a:t>user interacts directly </a:t>
            </a:r>
            <a:r>
              <a:rPr lang="en-US" sz="2800" dirty="0">
                <a:latin typeface="Times New Roman" panose="02020603050405020304" pitchFamily="18" charset="0"/>
                <a:cs typeface="Times New Roman" panose="02020603050405020304" pitchFamily="18" charset="0"/>
              </a:rPr>
              <a:t>is termed as front end. </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involves </a:t>
            </a:r>
            <a:r>
              <a:rPr lang="en-US" sz="2800" b="1" dirty="0">
                <a:solidFill>
                  <a:srgbClr val="7030A0"/>
                </a:solidFill>
                <a:latin typeface="Times New Roman" panose="02020603050405020304" pitchFamily="18" charset="0"/>
                <a:cs typeface="Times New Roman" panose="02020603050405020304" pitchFamily="18" charset="0"/>
              </a:rPr>
              <a:t>designing the structure, layout, and behavior </a:t>
            </a:r>
            <a:r>
              <a:rPr lang="en-US" sz="2800" dirty="0">
                <a:latin typeface="Times New Roman" panose="02020603050405020304" pitchFamily="18" charset="0"/>
                <a:cs typeface="Times New Roman" panose="02020603050405020304" pitchFamily="18" charset="0"/>
              </a:rPr>
              <a:t>of the website.</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It is also referred to as the </a:t>
            </a:r>
            <a:r>
              <a:rPr lang="en-US" sz="2800" b="1" dirty="0">
                <a:solidFill>
                  <a:srgbClr val="7030A0"/>
                </a:solidFill>
                <a:latin typeface="Times New Roman" panose="02020603050405020304" pitchFamily="18" charset="0"/>
                <a:cs typeface="Times New Roman" panose="02020603050405020304" pitchFamily="18" charset="0"/>
              </a:rPr>
              <a:t>‘client side’ </a:t>
            </a:r>
            <a:r>
              <a:rPr lang="en-US" sz="2800" dirty="0">
                <a:latin typeface="Times New Roman" panose="02020603050405020304" pitchFamily="18" charset="0"/>
                <a:cs typeface="Times New Roman" panose="02020603050405020304" pitchFamily="18" charset="0"/>
              </a:rPr>
              <a:t>of the application.</a:t>
            </a:r>
          </a:p>
        </p:txBody>
      </p:sp>
      <p:sp>
        <p:nvSpPr>
          <p:cNvPr id="4" name="Footer Placeholder 1">
            <a:extLst>
              <a:ext uri="{FF2B5EF4-FFF2-40B4-BE49-F238E27FC236}">
                <a16:creationId xmlns:a16="http://schemas.microsoft.com/office/drawing/2014/main" id="{E23473E6-C5D5-114F-6E12-5304675740F5}"/>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2602389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D99A8-0E03-797F-0065-1902A6A31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62839-7930-7E0A-5423-E5E8E6E9AD20}"/>
              </a:ext>
            </a:extLst>
          </p:cNvPr>
          <p:cNvSpPr>
            <a:spLocks noGrp="1"/>
          </p:cNvSpPr>
          <p:nvPr>
            <p:ph type="title"/>
          </p:nvPr>
        </p:nvSpPr>
        <p:spPr>
          <a:xfrm>
            <a:off x="714212" y="365126"/>
            <a:ext cx="9936421" cy="132556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Frontend Development</a:t>
            </a:r>
          </a:p>
        </p:txBody>
      </p:sp>
      <p:sp>
        <p:nvSpPr>
          <p:cNvPr id="4" name="Footer Placeholder 1">
            <a:extLst>
              <a:ext uri="{FF2B5EF4-FFF2-40B4-BE49-F238E27FC236}">
                <a16:creationId xmlns:a16="http://schemas.microsoft.com/office/drawing/2014/main" id="{37C13ABE-0E32-AC8F-2440-0EC72C06F464}"/>
              </a:ext>
            </a:extLst>
          </p:cNvPr>
          <p:cNvSpPr>
            <a:spLocks noGrp="1"/>
          </p:cNvSpPr>
          <p:nvPr>
            <p:ph type="ftr" sz="quarter" idx="11"/>
          </p:nvPr>
        </p:nvSpPr>
        <p:spPr>
          <a:xfrm>
            <a:off x="3816162" y="6492874"/>
            <a:ext cx="3888165" cy="228602"/>
          </a:xfrm>
        </p:spPr>
        <p:txBody>
          <a:bodyPr/>
          <a:lstStyle/>
          <a:p>
            <a:r>
              <a:rPr lang="pt-BR" dirty="0"/>
              <a:t>CCS332/AD/III CSE/VI SEM/KG-KiTE</a:t>
            </a:r>
            <a:endParaRPr lang="en-IN" dirty="0"/>
          </a:p>
        </p:txBody>
      </p:sp>
      <p:sp>
        <p:nvSpPr>
          <p:cNvPr id="8" name="Content Placeholder 7">
            <a:extLst>
              <a:ext uri="{FF2B5EF4-FFF2-40B4-BE49-F238E27FC236}">
                <a16:creationId xmlns:a16="http://schemas.microsoft.com/office/drawing/2014/main" id="{643CF0D2-78A4-9130-04D0-5C57EF9EF80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7DB0592-41E9-1F09-98DF-672E21D6E3E5}"/>
              </a:ext>
            </a:extLst>
          </p:cNvPr>
          <p:cNvPicPr>
            <a:picLocks noChangeAspect="1"/>
          </p:cNvPicPr>
          <p:nvPr/>
        </p:nvPicPr>
        <p:blipFill>
          <a:blip r:embed="rId2"/>
          <a:stretch>
            <a:fillRect/>
          </a:stretch>
        </p:blipFill>
        <p:spPr>
          <a:xfrm>
            <a:off x="1322963" y="1690689"/>
            <a:ext cx="8998084" cy="4798006"/>
          </a:xfrm>
          <a:prstGeom prst="rect">
            <a:avLst/>
          </a:prstGeom>
        </p:spPr>
      </p:pic>
    </p:spTree>
    <p:extLst>
      <p:ext uri="{BB962C8B-B14F-4D97-AF65-F5344CB8AC3E}">
        <p14:creationId xmlns:p14="http://schemas.microsoft.com/office/powerpoint/2010/main" val="865259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A3D3F-8FFF-BEDF-466C-AD22B32CD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4392F-A880-A7B0-0C16-0AF476E88518}"/>
              </a:ext>
            </a:extLst>
          </p:cNvPr>
          <p:cNvSpPr>
            <a:spLocks noGrp="1"/>
          </p:cNvSpPr>
          <p:nvPr>
            <p:ph type="title"/>
          </p:nvPr>
        </p:nvSpPr>
        <p:spPr>
          <a:xfrm>
            <a:off x="714212" y="365126"/>
            <a:ext cx="9936421" cy="132556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Frontend Development</a:t>
            </a:r>
          </a:p>
        </p:txBody>
      </p:sp>
      <p:sp>
        <p:nvSpPr>
          <p:cNvPr id="4" name="Footer Placeholder 1">
            <a:extLst>
              <a:ext uri="{FF2B5EF4-FFF2-40B4-BE49-F238E27FC236}">
                <a16:creationId xmlns:a16="http://schemas.microsoft.com/office/drawing/2014/main" id="{DF982AE4-105A-65DF-5A82-A6F447AEF8A7}"/>
              </a:ext>
            </a:extLst>
          </p:cNvPr>
          <p:cNvSpPr>
            <a:spLocks noGrp="1"/>
          </p:cNvSpPr>
          <p:nvPr>
            <p:ph type="ftr" sz="quarter" idx="11"/>
          </p:nvPr>
        </p:nvSpPr>
        <p:spPr>
          <a:xfrm>
            <a:off x="3816162" y="6492874"/>
            <a:ext cx="3888165" cy="228602"/>
          </a:xfrm>
        </p:spPr>
        <p:txBody>
          <a:bodyPr/>
          <a:lstStyle/>
          <a:p>
            <a:r>
              <a:rPr lang="pt-BR" dirty="0"/>
              <a:t>CCS332/AD/III CSE/VI SEM/KG-KiTE</a:t>
            </a:r>
            <a:endParaRPr lang="en-IN" dirty="0"/>
          </a:p>
        </p:txBody>
      </p:sp>
      <p:sp>
        <p:nvSpPr>
          <p:cNvPr id="8" name="Content Placeholder 7">
            <a:extLst>
              <a:ext uri="{FF2B5EF4-FFF2-40B4-BE49-F238E27FC236}">
                <a16:creationId xmlns:a16="http://schemas.microsoft.com/office/drawing/2014/main" id="{36D99878-5C3B-39CF-935A-05BB1E9EAA60}"/>
              </a:ext>
            </a:extLst>
          </p:cNvPr>
          <p:cNvSpPr>
            <a:spLocks noGrp="1"/>
          </p:cNvSpPr>
          <p:nvPr>
            <p:ph idx="1"/>
          </p:nvPr>
        </p:nvSpPr>
        <p:spPr/>
        <p:txBody>
          <a:bodyPr>
            <a:normAutofit/>
          </a:bodyPr>
          <a:lstStyle/>
          <a:p>
            <a:pPr marL="0" indent="0" algn="just">
              <a:lnSpc>
                <a:spcPct val="150000"/>
              </a:lnSpc>
              <a:buNone/>
            </a:pPr>
            <a:r>
              <a:rPr lang="en-IN" sz="2400" b="1" i="0" u="sng" dirty="0">
                <a:solidFill>
                  <a:srgbClr val="002060"/>
                </a:solidFill>
                <a:effectLst/>
                <a:latin typeface="Times New Roman" panose="02020603050405020304" pitchFamily="18" charset="0"/>
                <a:cs typeface="Times New Roman" panose="02020603050405020304" pitchFamily="18" charset="0"/>
              </a:rPr>
              <a:t>Frontend Technologies:</a:t>
            </a:r>
          </a:p>
          <a:p>
            <a:pPr algn="just">
              <a:lnSpc>
                <a:spcPct val="150000"/>
              </a:lnSpc>
            </a:pPr>
            <a:r>
              <a:rPr lang="en-US" sz="2400" b="1" u="sng" dirty="0">
                <a:solidFill>
                  <a:srgbClr val="002060"/>
                </a:solidFill>
                <a:latin typeface="Times New Roman" panose="02020603050405020304" pitchFamily="18" charset="0"/>
                <a:cs typeface="Times New Roman" panose="02020603050405020304" pitchFamily="18" charset="0"/>
              </a:rPr>
              <a:t>HTML: </a:t>
            </a:r>
            <a:r>
              <a:rPr lang="en-US" sz="2400" i="0" dirty="0">
                <a:solidFill>
                  <a:srgbClr val="273239"/>
                </a:solidFill>
                <a:effectLst/>
                <a:latin typeface="Times New Roman" panose="02020603050405020304" pitchFamily="18" charset="0"/>
                <a:cs typeface="Times New Roman" panose="02020603050405020304" pitchFamily="18" charset="0"/>
              </a:rPr>
              <a:t>HTML stands for </a:t>
            </a:r>
            <a:r>
              <a:rPr lang="en-US" sz="2400" b="1" i="0" dirty="0" err="1">
                <a:solidFill>
                  <a:srgbClr val="7030A0"/>
                </a:solidFill>
                <a:effectLst/>
                <a:latin typeface="Times New Roman" panose="02020603050405020304" pitchFamily="18" charset="0"/>
                <a:cs typeface="Times New Roman" panose="02020603050405020304" pitchFamily="18" charset="0"/>
              </a:rPr>
              <a:t>HyperText</a:t>
            </a:r>
            <a:r>
              <a:rPr lang="en-US" sz="2400" b="1" i="0" dirty="0">
                <a:solidFill>
                  <a:srgbClr val="7030A0"/>
                </a:solidFill>
                <a:effectLst/>
                <a:latin typeface="Times New Roman" panose="02020603050405020304" pitchFamily="18" charset="0"/>
                <a:cs typeface="Times New Roman" panose="02020603050405020304" pitchFamily="18" charset="0"/>
              </a:rPr>
              <a:t> Markup Language</a:t>
            </a:r>
            <a:r>
              <a:rPr lang="en-US" sz="2400" i="0" dirty="0">
                <a:solidFill>
                  <a:srgbClr val="7030A0"/>
                </a:solidFill>
                <a:effectLst/>
                <a:latin typeface="Times New Roman" panose="02020603050405020304" pitchFamily="18" charset="0"/>
                <a:cs typeface="Times New Roman" panose="02020603050405020304" pitchFamily="18" charset="0"/>
              </a:rPr>
              <a:t>. </a:t>
            </a:r>
            <a:r>
              <a:rPr lang="en-US" sz="2400" i="0" dirty="0">
                <a:solidFill>
                  <a:srgbClr val="273239"/>
                </a:solidFill>
                <a:effectLst/>
                <a:latin typeface="Times New Roman" panose="02020603050405020304" pitchFamily="18" charset="0"/>
                <a:cs typeface="Times New Roman" panose="02020603050405020304" pitchFamily="18" charset="0"/>
              </a:rPr>
              <a:t>It is used to design the front-end portion of web pages using </a:t>
            </a:r>
            <a:r>
              <a:rPr lang="en-US" sz="2400" b="1" dirty="0">
                <a:solidFill>
                  <a:srgbClr val="7030A0"/>
                </a:solidFill>
                <a:latin typeface="Times New Roman" panose="02020603050405020304" pitchFamily="18" charset="0"/>
                <a:cs typeface="Times New Roman" panose="02020603050405020304" pitchFamily="18" charset="0"/>
              </a:rPr>
              <a:t>markup language</a:t>
            </a:r>
            <a:r>
              <a:rPr lang="en-US" sz="2400" i="0" dirty="0">
                <a:solidFill>
                  <a:srgbClr val="273239"/>
                </a:solidFill>
                <a:effectLst/>
                <a:latin typeface="Times New Roman" panose="02020603050405020304" pitchFamily="18" charset="0"/>
                <a:cs typeface="Times New Roman" panose="02020603050405020304" pitchFamily="18" charset="0"/>
              </a:rPr>
              <a:t>. It acts as a </a:t>
            </a:r>
            <a:r>
              <a:rPr lang="en-US" sz="2400" b="1" dirty="0">
                <a:solidFill>
                  <a:srgbClr val="7030A0"/>
                </a:solidFill>
                <a:latin typeface="Times New Roman" panose="02020603050405020304" pitchFamily="18" charset="0"/>
                <a:cs typeface="Times New Roman" panose="02020603050405020304" pitchFamily="18" charset="0"/>
              </a:rPr>
              <a:t>skeleton for a website </a:t>
            </a:r>
            <a:r>
              <a:rPr lang="en-US" sz="2400" i="0" dirty="0">
                <a:solidFill>
                  <a:srgbClr val="273239"/>
                </a:solidFill>
                <a:effectLst/>
                <a:latin typeface="Times New Roman" panose="02020603050405020304" pitchFamily="18" charset="0"/>
                <a:cs typeface="Times New Roman" panose="02020603050405020304" pitchFamily="18" charset="0"/>
              </a:rPr>
              <a:t>since it is used to make the </a:t>
            </a:r>
            <a:r>
              <a:rPr lang="en-US" sz="2400" b="1" dirty="0">
                <a:solidFill>
                  <a:srgbClr val="7030A0"/>
                </a:solidFill>
                <a:latin typeface="Times New Roman" panose="02020603050405020304" pitchFamily="18" charset="0"/>
                <a:cs typeface="Times New Roman" panose="02020603050405020304" pitchFamily="18" charset="0"/>
              </a:rPr>
              <a:t>structure of a website</a:t>
            </a:r>
            <a:r>
              <a:rPr lang="en-US" sz="2400" i="0" dirty="0">
                <a:solidFill>
                  <a:srgbClr val="273239"/>
                </a:solidFill>
                <a:effectLst/>
                <a:latin typeface="Times New Roman" panose="02020603050405020304" pitchFamily="18" charset="0"/>
                <a:cs typeface="Times New Roman" panose="02020603050405020304" pitchFamily="18" charset="0"/>
              </a:rPr>
              <a:t>.</a:t>
            </a:r>
          </a:p>
          <a:p>
            <a:pPr algn="just">
              <a:lnSpc>
                <a:spcPct val="150000"/>
              </a:lnSpc>
            </a:pPr>
            <a:r>
              <a:rPr lang="en-US" sz="2400" b="1" u="sng" dirty="0">
                <a:solidFill>
                  <a:srgbClr val="002060"/>
                </a:solidFill>
                <a:latin typeface="Times New Roman" panose="02020603050405020304" pitchFamily="18" charset="0"/>
                <a:cs typeface="Times New Roman" panose="02020603050405020304" pitchFamily="18" charset="0"/>
              </a:rPr>
              <a:t>CSS: </a:t>
            </a:r>
            <a:r>
              <a:rPr lang="en-US" sz="2400" b="1" dirty="0">
                <a:solidFill>
                  <a:srgbClr val="7030A0"/>
                </a:solidFill>
                <a:latin typeface="Times New Roman" panose="02020603050405020304" pitchFamily="18" charset="0"/>
                <a:cs typeface="Times New Roman" panose="02020603050405020304" pitchFamily="18" charset="0"/>
              </a:rPr>
              <a:t>Cascading Style Sheets </a:t>
            </a:r>
            <a:r>
              <a:rPr lang="en-US" sz="2400" i="0" dirty="0">
                <a:solidFill>
                  <a:srgbClr val="273239"/>
                </a:solidFill>
                <a:effectLst/>
                <a:latin typeface="Times New Roman" panose="02020603050405020304" pitchFamily="18" charset="0"/>
                <a:cs typeface="Times New Roman" panose="02020603050405020304" pitchFamily="18" charset="0"/>
              </a:rPr>
              <a:t>fondly referred to as CSS is a </a:t>
            </a:r>
            <a:r>
              <a:rPr lang="en-US" sz="2400" b="1" dirty="0">
                <a:solidFill>
                  <a:srgbClr val="7030A0"/>
                </a:solidFill>
                <a:latin typeface="Times New Roman" panose="02020603050405020304" pitchFamily="18" charset="0"/>
                <a:cs typeface="Times New Roman" panose="02020603050405020304" pitchFamily="18" charset="0"/>
              </a:rPr>
              <a:t>simply designed language</a:t>
            </a:r>
            <a:r>
              <a:rPr lang="en-US" sz="2400" b="1" dirty="0">
                <a:solidFill>
                  <a:srgbClr val="002060"/>
                </a:solidFill>
                <a:latin typeface="Times New Roman" panose="02020603050405020304" pitchFamily="18" charset="0"/>
                <a:cs typeface="Times New Roman" panose="02020603050405020304" pitchFamily="18" charset="0"/>
              </a:rPr>
              <a:t> </a:t>
            </a:r>
            <a:r>
              <a:rPr lang="en-US" sz="2400" i="0" dirty="0">
                <a:solidFill>
                  <a:srgbClr val="273239"/>
                </a:solidFill>
                <a:effectLst/>
                <a:latin typeface="Times New Roman" panose="02020603050405020304" pitchFamily="18" charset="0"/>
                <a:cs typeface="Times New Roman" panose="02020603050405020304" pitchFamily="18" charset="0"/>
              </a:rPr>
              <a:t>intended to simplify the process of </a:t>
            </a:r>
            <a:r>
              <a:rPr lang="en-US" sz="2400" b="1" dirty="0">
                <a:solidFill>
                  <a:srgbClr val="7030A0"/>
                </a:solidFill>
                <a:latin typeface="Times New Roman" panose="02020603050405020304" pitchFamily="18" charset="0"/>
                <a:cs typeface="Times New Roman" panose="02020603050405020304" pitchFamily="18" charset="0"/>
              </a:rPr>
              <a:t>making web pages presentable</a:t>
            </a:r>
            <a:r>
              <a:rPr lang="en-US" sz="2400" i="0" dirty="0">
                <a:solidFill>
                  <a:srgbClr val="273239"/>
                </a:solidFill>
                <a:effectLst/>
                <a:latin typeface="Times New Roman" panose="02020603050405020304" pitchFamily="18" charset="0"/>
                <a:cs typeface="Times New Roman" panose="02020603050405020304" pitchFamily="18" charset="0"/>
              </a:rPr>
              <a:t>. It is used to style our website.</a:t>
            </a:r>
          </a:p>
        </p:txBody>
      </p:sp>
    </p:spTree>
    <p:extLst>
      <p:ext uri="{BB962C8B-B14F-4D97-AF65-F5344CB8AC3E}">
        <p14:creationId xmlns:p14="http://schemas.microsoft.com/office/powerpoint/2010/main" val="114472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36D24-46F0-F7F4-028B-593AF9F9C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AA739-580A-9122-322A-A788E8486693}"/>
              </a:ext>
            </a:extLst>
          </p:cNvPr>
          <p:cNvSpPr>
            <a:spLocks noGrp="1"/>
          </p:cNvSpPr>
          <p:nvPr>
            <p:ph type="title"/>
          </p:nvPr>
        </p:nvSpPr>
        <p:spPr>
          <a:xfrm>
            <a:off x="714212" y="365126"/>
            <a:ext cx="9936421" cy="132556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Frontend Development</a:t>
            </a:r>
          </a:p>
        </p:txBody>
      </p:sp>
      <p:sp>
        <p:nvSpPr>
          <p:cNvPr id="4" name="Footer Placeholder 1">
            <a:extLst>
              <a:ext uri="{FF2B5EF4-FFF2-40B4-BE49-F238E27FC236}">
                <a16:creationId xmlns:a16="http://schemas.microsoft.com/office/drawing/2014/main" id="{76A24346-38E4-B20F-E01E-5EB278FAE72B}"/>
              </a:ext>
            </a:extLst>
          </p:cNvPr>
          <p:cNvSpPr>
            <a:spLocks noGrp="1"/>
          </p:cNvSpPr>
          <p:nvPr>
            <p:ph type="ftr" sz="quarter" idx="11"/>
          </p:nvPr>
        </p:nvSpPr>
        <p:spPr>
          <a:xfrm>
            <a:off x="3816162" y="6492874"/>
            <a:ext cx="3888165" cy="228602"/>
          </a:xfrm>
        </p:spPr>
        <p:txBody>
          <a:bodyPr/>
          <a:lstStyle/>
          <a:p>
            <a:r>
              <a:rPr lang="pt-BR" dirty="0"/>
              <a:t>CCS332/AD/III CSE/VI SEM/KG-KiTE</a:t>
            </a:r>
            <a:endParaRPr lang="en-IN" dirty="0"/>
          </a:p>
        </p:txBody>
      </p:sp>
      <p:sp>
        <p:nvSpPr>
          <p:cNvPr id="8" name="Content Placeholder 7">
            <a:extLst>
              <a:ext uri="{FF2B5EF4-FFF2-40B4-BE49-F238E27FC236}">
                <a16:creationId xmlns:a16="http://schemas.microsoft.com/office/drawing/2014/main" id="{14431CD0-FACC-D2E1-CAD7-4D42080A6A7B}"/>
              </a:ext>
            </a:extLst>
          </p:cNvPr>
          <p:cNvSpPr>
            <a:spLocks noGrp="1"/>
          </p:cNvSpPr>
          <p:nvPr>
            <p:ph idx="1"/>
          </p:nvPr>
        </p:nvSpPr>
        <p:spPr>
          <a:xfrm>
            <a:off x="792034" y="1556426"/>
            <a:ext cx="9936421" cy="4854102"/>
          </a:xfrm>
        </p:spPr>
        <p:txBody>
          <a:bodyPr>
            <a:normAutofit/>
          </a:bodyPr>
          <a:lstStyle/>
          <a:p>
            <a:pPr marL="0" indent="0" algn="just">
              <a:lnSpc>
                <a:spcPct val="150000"/>
              </a:lnSpc>
              <a:buNone/>
            </a:pPr>
            <a:r>
              <a:rPr lang="en-IN" sz="2400" b="1" i="0" u="sng" dirty="0">
                <a:solidFill>
                  <a:srgbClr val="002060"/>
                </a:solidFill>
                <a:effectLst/>
                <a:latin typeface="Times New Roman" panose="02020603050405020304" pitchFamily="18" charset="0"/>
                <a:cs typeface="Times New Roman" panose="02020603050405020304" pitchFamily="18" charset="0"/>
              </a:rPr>
              <a:t>Frontend Technologies:</a:t>
            </a:r>
          </a:p>
          <a:p>
            <a:pPr algn="just">
              <a:lnSpc>
                <a:spcPct val="100000"/>
              </a:lnSpc>
            </a:pPr>
            <a:r>
              <a:rPr lang="en-US" sz="2400" b="1" u="sng" dirty="0">
                <a:solidFill>
                  <a:srgbClr val="002060"/>
                </a:solidFill>
                <a:latin typeface="Times New Roman" panose="02020603050405020304" pitchFamily="18" charset="0"/>
                <a:cs typeface="Times New Roman" panose="02020603050405020304" pitchFamily="18" charset="0"/>
              </a:rPr>
              <a:t>JavaScript: </a:t>
            </a:r>
            <a:r>
              <a:rPr lang="en-US" sz="2400" dirty="0">
                <a:solidFill>
                  <a:srgbClr val="273239"/>
                </a:solidFill>
                <a:latin typeface="Times New Roman" panose="02020603050405020304" pitchFamily="18" charset="0"/>
                <a:cs typeface="Times New Roman" panose="02020603050405020304" pitchFamily="18" charset="0"/>
              </a:rPr>
              <a:t>JavaScript is a </a:t>
            </a:r>
            <a:r>
              <a:rPr lang="en-US" sz="2400" b="1" dirty="0">
                <a:solidFill>
                  <a:srgbClr val="7030A0"/>
                </a:solidFill>
                <a:latin typeface="Times New Roman" panose="02020603050405020304" pitchFamily="18" charset="0"/>
                <a:cs typeface="Times New Roman" panose="02020603050405020304" pitchFamily="18" charset="0"/>
              </a:rPr>
              <a:t>scripting language </a:t>
            </a:r>
            <a:r>
              <a:rPr lang="en-US" sz="2400" dirty="0">
                <a:solidFill>
                  <a:srgbClr val="273239"/>
                </a:solidFill>
                <a:latin typeface="Times New Roman" panose="02020603050405020304" pitchFamily="18" charset="0"/>
                <a:cs typeface="Times New Roman" panose="02020603050405020304" pitchFamily="18" charset="0"/>
              </a:rPr>
              <a:t>used to provide a </a:t>
            </a:r>
            <a:r>
              <a:rPr lang="en-US" sz="2400" b="1" dirty="0">
                <a:solidFill>
                  <a:srgbClr val="7030A0"/>
                </a:solidFill>
                <a:latin typeface="Times New Roman" panose="02020603050405020304" pitchFamily="18" charset="0"/>
                <a:cs typeface="Times New Roman" panose="02020603050405020304" pitchFamily="18" charset="0"/>
              </a:rPr>
              <a:t>dynamic behavior </a:t>
            </a:r>
            <a:r>
              <a:rPr lang="en-US" sz="2400" dirty="0">
                <a:solidFill>
                  <a:srgbClr val="273239"/>
                </a:solidFill>
                <a:latin typeface="Times New Roman" panose="02020603050405020304" pitchFamily="18" charset="0"/>
                <a:cs typeface="Times New Roman" panose="02020603050405020304" pitchFamily="18" charset="0"/>
              </a:rPr>
              <a:t>to our </a:t>
            </a:r>
            <a:r>
              <a:rPr lang="en-US" sz="2400" b="1" dirty="0">
                <a:solidFill>
                  <a:srgbClr val="7030A0"/>
                </a:solidFill>
                <a:latin typeface="Times New Roman" panose="02020603050405020304" pitchFamily="18" charset="0"/>
                <a:cs typeface="Times New Roman" panose="02020603050405020304" pitchFamily="18" charset="0"/>
              </a:rPr>
              <a:t>website</a:t>
            </a:r>
            <a:r>
              <a:rPr lang="en-US" sz="2400" dirty="0">
                <a:solidFill>
                  <a:srgbClr val="273239"/>
                </a:solidFill>
                <a:latin typeface="Times New Roman" panose="02020603050405020304" pitchFamily="18" charset="0"/>
                <a:cs typeface="Times New Roman" panose="02020603050405020304" pitchFamily="18" charset="0"/>
              </a:rPr>
              <a:t>.</a:t>
            </a:r>
          </a:p>
          <a:p>
            <a:pPr algn="just">
              <a:lnSpc>
                <a:spcPct val="100000"/>
              </a:lnSpc>
            </a:pPr>
            <a:r>
              <a:rPr lang="en-US" sz="2400" b="1" u="sng" dirty="0">
                <a:solidFill>
                  <a:srgbClr val="002060"/>
                </a:solidFill>
                <a:latin typeface="Times New Roman" panose="02020603050405020304" pitchFamily="18" charset="0"/>
                <a:cs typeface="Times New Roman" panose="02020603050405020304" pitchFamily="18" charset="0"/>
              </a:rPr>
              <a:t>Bootstrap: </a:t>
            </a:r>
            <a:r>
              <a:rPr lang="en-US" sz="2400" dirty="0">
                <a:solidFill>
                  <a:srgbClr val="273239"/>
                </a:solidFill>
                <a:latin typeface="Times New Roman" panose="02020603050405020304" pitchFamily="18" charset="0"/>
                <a:cs typeface="Times New Roman" panose="02020603050405020304" pitchFamily="18" charset="0"/>
              </a:rPr>
              <a:t>Bootstrap is a </a:t>
            </a:r>
            <a:r>
              <a:rPr lang="en-US" sz="2400" b="1" dirty="0">
                <a:solidFill>
                  <a:srgbClr val="7030A0"/>
                </a:solidFill>
                <a:latin typeface="Times New Roman" panose="02020603050405020304" pitchFamily="18" charset="0"/>
                <a:cs typeface="Times New Roman" panose="02020603050405020304" pitchFamily="18" charset="0"/>
              </a:rPr>
              <a:t>free and open-source tool collection </a:t>
            </a:r>
            <a:r>
              <a:rPr lang="en-US" sz="2400" dirty="0">
                <a:solidFill>
                  <a:srgbClr val="273239"/>
                </a:solidFill>
                <a:latin typeface="Times New Roman" panose="02020603050405020304" pitchFamily="18" charset="0"/>
                <a:cs typeface="Times New Roman" panose="02020603050405020304" pitchFamily="18" charset="0"/>
              </a:rPr>
              <a:t>for </a:t>
            </a:r>
            <a:r>
              <a:rPr lang="en-US" sz="2400" b="1" dirty="0">
                <a:solidFill>
                  <a:srgbClr val="7030A0"/>
                </a:solidFill>
                <a:latin typeface="Times New Roman" panose="02020603050405020304" pitchFamily="18" charset="0"/>
                <a:cs typeface="Times New Roman" panose="02020603050405020304" pitchFamily="18" charset="0"/>
              </a:rPr>
              <a:t>creating</a:t>
            </a:r>
            <a:r>
              <a:rPr lang="en-US" sz="2400" dirty="0">
                <a:solidFill>
                  <a:srgbClr val="273239"/>
                </a:solidFill>
                <a:latin typeface="Times New Roman" panose="02020603050405020304" pitchFamily="18" charset="0"/>
                <a:cs typeface="Times New Roman" panose="02020603050405020304" pitchFamily="18" charset="0"/>
              </a:rPr>
              <a:t> </a:t>
            </a:r>
            <a:r>
              <a:rPr lang="en-US" sz="2400" b="1" dirty="0">
                <a:solidFill>
                  <a:srgbClr val="7030A0"/>
                </a:solidFill>
                <a:latin typeface="Times New Roman" panose="02020603050405020304" pitchFamily="18" charset="0"/>
                <a:cs typeface="Times New Roman" panose="02020603050405020304" pitchFamily="18" charset="0"/>
              </a:rPr>
              <a:t>responsive websites </a:t>
            </a:r>
            <a:r>
              <a:rPr lang="en-US" sz="2400" dirty="0">
                <a:solidFill>
                  <a:srgbClr val="273239"/>
                </a:solidFill>
                <a:latin typeface="Times New Roman" panose="02020603050405020304" pitchFamily="18" charset="0"/>
                <a:cs typeface="Times New Roman" panose="02020603050405020304" pitchFamily="18" charset="0"/>
              </a:rPr>
              <a:t>and </a:t>
            </a:r>
            <a:r>
              <a:rPr lang="en-US" sz="2400" b="1" dirty="0">
                <a:solidFill>
                  <a:srgbClr val="7030A0"/>
                </a:solidFill>
                <a:latin typeface="Times New Roman" panose="02020603050405020304" pitchFamily="18" charset="0"/>
                <a:cs typeface="Times New Roman" panose="02020603050405020304" pitchFamily="18" charset="0"/>
              </a:rPr>
              <a:t>web applications</a:t>
            </a:r>
            <a:r>
              <a:rPr lang="en-US" sz="2400" dirty="0">
                <a:solidFill>
                  <a:srgbClr val="273239"/>
                </a:solidFill>
                <a:latin typeface="Times New Roman" panose="02020603050405020304" pitchFamily="18" charset="0"/>
                <a:cs typeface="Times New Roman" panose="02020603050405020304" pitchFamily="18" charset="0"/>
              </a:rPr>
              <a:t>. It is the most popular </a:t>
            </a:r>
            <a:r>
              <a:rPr lang="en-US" sz="2400" b="1" dirty="0">
                <a:solidFill>
                  <a:srgbClr val="7030A0"/>
                </a:solidFill>
                <a:latin typeface="Times New Roman" panose="02020603050405020304" pitchFamily="18" charset="0"/>
                <a:cs typeface="Times New Roman" panose="02020603050405020304" pitchFamily="18" charset="0"/>
              </a:rPr>
              <a:t>CSS framework</a:t>
            </a:r>
            <a:r>
              <a:rPr lang="en-US" sz="2400" dirty="0">
                <a:solidFill>
                  <a:srgbClr val="273239"/>
                </a:solidFill>
                <a:latin typeface="Times New Roman" panose="02020603050405020304" pitchFamily="18" charset="0"/>
                <a:cs typeface="Times New Roman" panose="02020603050405020304" pitchFamily="18" charset="0"/>
              </a:rPr>
              <a:t> for </a:t>
            </a:r>
            <a:r>
              <a:rPr lang="en-US" sz="2400" b="1" dirty="0">
                <a:solidFill>
                  <a:srgbClr val="7030A0"/>
                </a:solidFill>
                <a:latin typeface="Times New Roman" panose="02020603050405020304" pitchFamily="18" charset="0"/>
                <a:cs typeface="Times New Roman" panose="02020603050405020304" pitchFamily="18" charset="0"/>
              </a:rPr>
              <a:t>developing responsive, mobile-first websites</a:t>
            </a:r>
            <a:r>
              <a:rPr lang="en-US" sz="2400" dirty="0">
                <a:solidFill>
                  <a:srgbClr val="273239"/>
                </a:solidFill>
                <a:latin typeface="Times New Roman" panose="02020603050405020304" pitchFamily="18" charset="0"/>
                <a:cs typeface="Times New Roman" panose="02020603050405020304" pitchFamily="18" charset="0"/>
              </a:rPr>
              <a:t>. Nowadays, the websites are perfect for all browsers (IE, Firefox, and Chrome) and for all sizes of screens (Desktop, Tablets, Phablets, and Phones).</a:t>
            </a:r>
          </a:p>
          <a:p>
            <a:pPr algn="just">
              <a:lnSpc>
                <a:spcPct val="100000"/>
              </a:lnSpc>
            </a:pPr>
            <a:r>
              <a:rPr lang="en-US" sz="2400" dirty="0">
                <a:solidFill>
                  <a:srgbClr val="273239"/>
                </a:solidFill>
                <a:latin typeface="Times New Roman" panose="02020603050405020304" pitchFamily="18" charset="0"/>
                <a:cs typeface="Times New Roman" panose="02020603050405020304" pitchFamily="18" charset="0"/>
              </a:rPr>
              <a:t>Bootstrap 4</a:t>
            </a:r>
          </a:p>
          <a:p>
            <a:pPr algn="just">
              <a:lnSpc>
                <a:spcPct val="100000"/>
              </a:lnSpc>
            </a:pPr>
            <a:r>
              <a:rPr lang="en-US" sz="2400" dirty="0">
                <a:solidFill>
                  <a:srgbClr val="273239"/>
                </a:solidFill>
                <a:latin typeface="Times New Roman" panose="02020603050405020304" pitchFamily="18" charset="0"/>
                <a:cs typeface="Times New Roman" panose="02020603050405020304" pitchFamily="18" charset="0"/>
              </a:rPr>
              <a:t>Bootstrap 5</a:t>
            </a:r>
            <a:endParaRPr lang="en-IN" sz="2400"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3974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9360A-8252-A86D-B08D-4DEF1B4B5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49168-4570-8B16-62B9-02982B794295}"/>
              </a:ext>
            </a:extLst>
          </p:cNvPr>
          <p:cNvSpPr>
            <a:spLocks noGrp="1"/>
          </p:cNvSpPr>
          <p:nvPr>
            <p:ph type="title"/>
          </p:nvPr>
        </p:nvSpPr>
        <p:spPr>
          <a:xfrm>
            <a:off x="714212" y="365126"/>
            <a:ext cx="9936421" cy="1325563"/>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Frontend Development</a:t>
            </a:r>
          </a:p>
        </p:txBody>
      </p:sp>
      <p:sp>
        <p:nvSpPr>
          <p:cNvPr id="4" name="Footer Placeholder 1">
            <a:extLst>
              <a:ext uri="{FF2B5EF4-FFF2-40B4-BE49-F238E27FC236}">
                <a16:creationId xmlns:a16="http://schemas.microsoft.com/office/drawing/2014/main" id="{B3B57A8A-65E4-36A3-2978-5753F7C2FF4F}"/>
              </a:ext>
            </a:extLst>
          </p:cNvPr>
          <p:cNvSpPr>
            <a:spLocks noGrp="1"/>
          </p:cNvSpPr>
          <p:nvPr>
            <p:ph type="ftr" sz="quarter" idx="11"/>
          </p:nvPr>
        </p:nvSpPr>
        <p:spPr>
          <a:xfrm>
            <a:off x="3816162" y="6492874"/>
            <a:ext cx="3888165" cy="228602"/>
          </a:xfrm>
        </p:spPr>
        <p:txBody>
          <a:bodyPr/>
          <a:lstStyle/>
          <a:p>
            <a:r>
              <a:rPr lang="pt-BR" dirty="0"/>
              <a:t>CCS332/AD/III CSE/VI SEM/KG-KiTE</a:t>
            </a:r>
            <a:endParaRPr lang="en-IN" dirty="0"/>
          </a:p>
        </p:txBody>
      </p:sp>
      <p:sp>
        <p:nvSpPr>
          <p:cNvPr id="8" name="Content Placeholder 7">
            <a:extLst>
              <a:ext uri="{FF2B5EF4-FFF2-40B4-BE49-F238E27FC236}">
                <a16:creationId xmlns:a16="http://schemas.microsoft.com/office/drawing/2014/main" id="{46FC1583-9C20-584F-63B7-0AECCD3DC2F5}"/>
              </a:ext>
            </a:extLst>
          </p:cNvPr>
          <p:cNvSpPr>
            <a:spLocks noGrp="1"/>
          </p:cNvSpPr>
          <p:nvPr>
            <p:ph idx="1"/>
          </p:nvPr>
        </p:nvSpPr>
        <p:spPr/>
        <p:txBody>
          <a:bodyPr>
            <a:normAutofit/>
          </a:bodyPr>
          <a:lstStyle/>
          <a:p>
            <a:pPr marL="0" indent="0" algn="just" fontAlgn="base">
              <a:spcBef>
                <a:spcPts val="1800"/>
              </a:spcBef>
              <a:spcAft>
                <a:spcPts val="1800"/>
              </a:spcAft>
              <a:buNone/>
            </a:pPr>
            <a:r>
              <a:rPr lang="en-US" sz="2400" b="1" i="0" u="sng" dirty="0">
                <a:solidFill>
                  <a:srgbClr val="273239"/>
                </a:solidFill>
                <a:effectLst/>
                <a:latin typeface="Times New Roman" panose="02020603050405020304" pitchFamily="18" charset="0"/>
                <a:cs typeface="Times New Roman" panose="02020603050405020304" pitchFamily="18" charset="0"/>
              </a:rPr>
              <a:t>Frontend Frameworks/Libraries</a:t>
            </a:r>
          </a:p>
          <a:p>
            <a:pPr algn="just" fontAlgn="base">
              <a:spcAft>
                <a:spcPts val="1800"/>
              </a:spcAft>
              <a:buFont typeface="Arial" panose="020B0604020202020204" pitchFamily="34" charset="0"/>
              <a:buChar char="•"/>
            </a:pPr>
            <a:r>
              <a:rPr lang="en-US" sz="2400" b="1" i="0" u="sng" dirty="0">
                <a:solidFill>
                  <a:srgbClr val="273239"/>
                </a:solidFill>
                <a:effectLst/>
                <a:latin typeface="Times New Roman" panose="02020603050405020304" pitchFamily="18" charset="0"/>
                <a:cs typeface="Times New Roman" panose="02020603050405020304" pitchFamily="18" charset="0"/>
                <a:hlinkClick r:id="rId2"/>
              </a:rPr>
              <a:t>React.js</a:t>
            </a:r>
            <a:r>
              <a:rPr lang="en-US" sz="2400" b="1" i="0" dirty="0">
                <a:solidFill>
                  <a:srgbClr val="273239"/>
                </a:solidFill>
                <a:effectLst/>
                <a:latin typeface="Times New Roman" panose="02020603050405020304" pitchFamily="18" charset="0"/>
                <a:cs typeface="Times New Roman" panose="02020603050405020304" pitchFamily="18" charset="0"/>
              </a:rPr>
              <a:t> : </a:t>
            </a:r>
            <a:r>
              <a:rPr lang="en-US" sz="2400" b="0" i="0" dirty="0">
                <a:solidFill>
                  <a:srgbClr val="273239"/>
                </a:solidFill>
                <a:effectLst/>
                <a:latin typeface="Times New Roman" panose="02020603050405020304" pitchFamily="18" charset="0"/>
                <a:cs typeface="Times New Roman" panose="02020603050405020304" pitchFamily="18" charset="0"/>
              </a:rPr>
              <a:t>A popular JavaScript library for building dynamic, component-based user interfaces.</a:t>
            </a:r>
          </a:p>
          <a:p>
            <a:pPr algn="just" fontAlgn="base">
              <a:spcAft>
                <a:spcPts val="1800"/>
              </a:spcAft>
              <a:buFont typeface="Arial" panose="020B0604020202020204" pitchFamily="34" charset="0"/>
              <a:buChar char="•"/>
            </a:pPr>
            <a:r>
              <a:rPr lang="en-US" sz="2400" b="1" i="0" u="sng" dirty="0">
                <a:solidFill>
                  <a:srgbClr val="273239"/>
                </a:solidFill>
                <a:effectLst/>
                <a:latin typeface="Times New Roman" panose="02020603050405020304" pitchFamily="18" charset="0"/>
                <a:cs typeface="Times New Roman" panose="02020603050405020304" pitchFamily="18" charset="0"/>
                <a:hlinkClick r:id="rId3"/>
              </a:rPr>
              <a:t>Angular</a:t>
            </a:r>
            <a:r>
              <a:rPr lang="en-US" sz="2400" b="1" i="0" dirty="0">
                <a:solidFill>
                  <a:srgbClr val="273239"/>
                </a:solidFill>
                <a:effectLst/>
                <a:latin typeface="Times New Roman" panose="02020603050405020304" pitchFamily="18" charset="0"/>
                <a:cs typeface="Times New Roman" panose="02020603050405020304" pitchFamily="18" charset="0"/>
              </a:rPr>
              <a:t> : </a:t>
            </a:r>
            <a:r>
              <a:rPr lang="en-US" sz="2400" b="0" i="0" dirty="0">
                <a:solidFill>
                  <a:srgbClr val="273239"/>
                </a:solidFill>
                <a:effectLst/>
                <a:latin typeface="Times New Roman" panose="02020603050405020304" pitchFamily="18" charset="0"/>
                <a:cs typeface="Times New Roman" panose="02020603050405020304" pitchFamily="18" charset="0"/>
              </a:rPr>
              <a:t>A full-fledged framework for building single-page applications (SPAs), with features like two-way data binding and dependency injection.</a:t>
            </a:r>
          </a:p>
          <a:p>
            <a:pPr algn="just" fontAlgn="base">
              <a:spcAft>
                <a:spcPts val="1800"/>
              </a:spcAft>
              <a:buFont typeface="Arial" panose="020B0604020202020204" pitchFamily="34" charset="0"/>
              <a:buChar char="•"/>
            </a:pPr>
            <a:r>
              <a:rPr lang="en-US" sz="2400" b="1" i="0" u="sng" dirty="0">
                <a:solidFill>
                  <a:srgbClr val="273239"/>
                </a:solidFill>
                <a:effectLst/>
                <a:latin typeface="Times New Roman" panose="02020603050405020304" pitchFamily="18" charset="0"/>
                <a:cs typeface="Times New Roman" panose="02020603050405020304" pitchFamily="18" charset="0"/>
                <a:hlinkClick r:id="rId4"/>
              </a:rPr>
              <a:t>Vue.js</a:t>
            </a:r>
            <a:r>
              <a:rPr lang="en-US" sz="2400" b="1" i="0" dirty="0">
                <a:solidFill>
                  <a:srgbClr val="273239"/>
                </a:solidFill>
                <a:effectLst/>
                <a:latin typeface="Times New Roman" panose="02020603050405020304" pitchFamily="18" charset="0"/>
                <a:cs typeface="Times New Roman" panose="02020603050405020304" pitchFamily="18" charset="0"/>
              </a:rPr>
              <a:t> : </a:t>
            </a:r>
            <a:r>
              <a:rPr lang="en-US" sz="2400" b="0" i="0" dirty="0">
                <a:solidFill>
                  <a:srgbClr val="273239"/>
                </a:solidFill>
                <a:effectLst/>
                <a:latin typeface="Times New Roman" panose="02020603050405020304" pitchFamily="18" charset="0"/>
                <a:cs typeface="Times New Roman" panose="02020603050405020304" pitchFamily="18" charset="0"/>
              </a:rPr>
              <a:t>A progressive JavaScript framework that is flexible and can be used for building both simple and complex user interfaces.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725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54668-636C-E4D4-B3D1-C7670C807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41002-9ED5-EA1D-1654-08CE3DEE23C0}"/>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Backend Development</a:t>
            </a:r>
          </a:p>
        </p:txBody>
      </p:sp>
      <p:sp>
        <p:nvSpPr>
          <p:cNvPr id="3" name="Content Placeholder 2">
            <a:extLst>
              <a:ext uri="{FF2B5EF4-FFF2-40B4-BE49-F238E27FC236}">
                <a16:creationId xmlns:a16="http://schemas.microsoft.com/office/drawing/2014/main" id="{C0B4D53D-70C1-5108-E106-1308FD7739E8}"/>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solidFill>
                  <a:srgbClr val="002060"/>
                </a:solidFill>
                <a:latin typeface="Times New Roman" panose="02020603050405020304" pitchFamily="18" charset="0"/>
                <a:cs typeface="Times New Roman" panose="02020603050405020304" pitchFamily="18" charset="0"/>
              </a:rPr>
              <a:t>Backbone</a:t>
            </a:r>
            <a:r>
              <a:rPr lang="en-US" dirty="0">
                <a:latin typeface="Times New Roman" panose="02020603050405020304" pitchFamily="18" charset="0"/>
                <a:cs typeface="Times New Roman" panose="02020603050405020304" pitchFamily="18" charset="0"/>
              </a:rPr>
              <a:t> of the Web.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Backend is the </a:t>
            </a:r>
            <a:r>
              <a:rPr lang="en-US" b="1" dirty="0">
                <a:solidFill>
                  <a:srgbClr val="002060"/>
                </a:solidFill>
                <a:latin typeface="Times New Roman" panose="02020603050405020304" pitchFamily="18" charset="0"/>
                <a:cs typeface="Times New Roman" panose="02020603050405020304" pitchFamily="18" charset="0"/>
              </a:rPr>
              <a:t>server side </a:t>
            </a:r>
            <a:r>
              <a:rPr lang="en-US" dirty="0">
                <a:latin typeface="Times New Roman" panose="02020603050405020304" pitchFamily="18" charset="0"/>
                <a:cs typeface="Times New Roman" panose="02020603050405020304" pitchFamily="18" charset="0"/>
              </a:rPr>
              <a:t>of a </a:t>
            </a:r>
            <a:r>
              <a:rPr lang="en-US" b="1" dirty="0">
                <a:solidFill>
                  <a:srgbClr val="002060"/>
                </a:solidFill>
                <a:latin typeface="Times New Roman" panose="02020603050405020304" pitchFamily="18" charset="0"/>
                <a:cs typeface="Times New Roman" panose="02020603050405020304" pitchFamily="18" charset="0"/>
              </a:rPr>
              <a:t>website.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part of the </a:t>
            </a:r>
            <a:r>
              <a:rPr lang="en-US" b="1" dirty="0">
                <a:solidFill>
                  <a:srgbClr val="002060"/>
                </a:solidFill>
                <a:latin typeface="Times New Roman" panose="02020603050405020304" pitchFamily="18" charset="0"/>
                <a:cs typeface="Times New Roman" panose="02020603050405020304" pitchFamily="18" charset="0"/>
              </a:rPr>
              <a:t>website</a:t>
            </a:r>
            <a:r>
              <a:rPr lang="en-US" dirty="0">
                <a:latin typeface="Times New Roman" panose="02020603050405020304" pitchFamily="18" charset="0"/>
                <a:cs typeface="Times New Roman" panose="02020603050405020304" pitchFamily="18" charset="0"/>
              </a:rPr>
              <a:t> that </a:t>
            </a:r>
            <a:r>
              <a:rPr lang="en-US" b="1" dirty="0">
                <a:solidFill>
                  <a:srgbClr val="002060"/>
                </a:solidFill>
                <a:latin typeface="Times New Roman" panose="02020603050405020304" pitchFamily="18" charset="0"/>
                <a:cs typeface="Times New Roman" panose="02020603050405020304" pitchFamily="18" charset="0"/>
              </a:rPr>
              <a:t>users cannot see </a:t>
            </a:r>
            <a:r>
              <a:rPr lang="en-US" dirty="0">
                <a:latin typeface="Times New Roman" panose="02020603050405020304" pitchFamily="18" charset="0"/>
                <a:cs typeface="Times New Roman" panose="02020603050405020304" pitchFamily="18" charset="0"/>
              </a:rPr>
              <a:t>and </a:t>
            </a:r>
            <a:r>
              <a:rPr lang="en-US" b="1" dirty="0">
                <a:solidFill>
                  <a:srgbClr val="002060"/>
                </a:solidFill>
                <a:latin typeface="Times New Roman" panose="02020603050405020304" pitchFamily="18" charset="0"/>
                <a:cs typeface="Times New Roman" panose="02020603050405020304" pitchFamily="18" charset="0"/>
              </a:rPr>
              <a:t>interact with</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the </a:t>
            </a:r>
            <a:r>
              <a:rPr lang="en-US" b="1" dirty="0">
                <a:solidFill>
                  <a:srgbClr val="002060"/>
                </a:solidFill>
                <a:latin typeface="Times New Roman" panose="02020603050405020304" pitchFamily="18" charset="0"/>
                <a:cs typeface="Times New Roman" panose="02020603050405020304" pitchFamily="18" charset="0"/>
              </a:rPr>
              <a:t>portion of software </a:t>
            </a:r>
            <a:r>
              <a:rPr lang="en-US" dirty="0">
                <a:latin typeface="Times New Roman" panose="02020603050405020304" pitchFamily="18" charset="0"/>
                <a:cs typeface="Times New Roman" panose="02020603050405020304" pitchFamily="18" charset="0"/>
              </a:rPr>
              <a:t>that </a:t>
            </a:r>
            <a:r>
              <a:rPr lang="en-US" b="1" dirty="0">
                <a:solidFill>
                  <a:srgbClr val="002060"/>
                </a:solidFill>
                <a:latin typeface="Times New Roman" panose="02020603050405020304" pitchFamily="18" charset="0"/>
                <a:cs typeface="Times New Roman" panose="02020603050405020304" pitchFamily="18" charset="0"/>
              </a:rPr>
              <a:t>does not come in direct contact </a:t>
            </a:r>
            <a:r>
              <a:rPr lang="en-US" dirty="0">
                <a:latin typeface="Times New Roman" panose="02020603050405020304" pitchFamily="18" charset="0"/>
                <a:cs typeface="Times New Roman" panose="02020603050405020304" pitchFamily="18" charset="0"/>
              </a:rPr>
              <a:t>with the </a:t>
            </a:r>
            <a:r>
              <a:rPr lang="en-US" b="1" dirty="0">
                <a:solidFill>
                  <a:srgbClr val="002060"/>
                </a:solidFill>
                <a:latin typeface="Times New Roman" panose="02020603050405020304" pitchFamily="18" charset="0"/>
                <a:cs typeface="Times New Roman" panose="02020603050405020304" pitchFamily="18" charset="0"/>
              </a:rPr>
              <a:t>users</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used to </a:t>
            </a:r>
            <a:r>
              <a:rPr lang="en-US" b="1" dirty="0">
                <a:solidFill>
                  <a:srgbClr val="002060"/>
                </a:solidFill>
                <a:latin typeface="Times New Roman" panose="02020603050405020304" pitchFamily="18" charset="0"/>
                <a:cs typeface="Times New Roman" panose="02020603050405020304" pitchFamily="18" charset="0"/>
              </a:rPr>
              <a:t>store and arrange data</a:t>
            </a:r>
            <a:r>
              <a:rPr lang="en-US" dirty="0">
                <a:latin typeface="Times New Roman" panose="02020603050405020304" pitchFamily="18" charset="0"/>
                <a:cs typeface="Times New Roman" panose="02020603050405020304" pitchFamily="18" charset="0"/>
              </a:rPr>
              <a:t>.</a:t>
            </a:r>
          </a:p>
        </p:txBody>
      </p:sp>
      <p:sp>
        <p:nvSpPr>
          <p:cNvPr id="4" name="Footer Placeholder 1">
            <a:extLst>
              <a:ext uri="{FF2B5EF4-FFF2-40B4-BE49-F238E27FC236}">
                <a16:creationId xmlns:a16="http://schemas.microsoft.com/office/drawing/2014/main" id="{EA572855-2746-C9FC-3693-8D968AF8D8AC}"/>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665268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A9FF-0757-E5F4-FCEE-AF7423CEF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350A3-924D-2EED-CC39-0FC07FA29A29}"/>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Backend Development</a:t>
            </a:r>
          </a:p>
        </p:txBody>
      </p:sp>
      <p:pic>
        <p:nvPicPr>
          <p:cNvPr id="6" name="Content Placeholder 5">
            <a:extLst>
              <a:ext uri="{FF2B5EF4-FFF2-40B4-BE49-F238E27FC236}">
                <a16:creationId xmlns:a16="http://schemas.microsoft.com/office/drawing/2014/main" id="{93BEBB35-EA38-26C9-921D-4FF27A15429A}"/>
              </a:ext>
            </a:extLst>
          </p:cNvPr>
          <p:cNvPicPr>
            <a:picLocks noGrp="1" noChangeAspect="1"/>
          </p:cNvPicPr>
          <p:nvPr>
            <p:ph idx="1"/>
          </p:nvPr>
        </p:nvPicPr>
        <p:blipFill>
          <a:blip r:embed="rId2"/>
          <a:stretch>
            <a:fillRect/>
          </a:stretch>
        </p:blipFill>
        <p:spPr>
          <a:xfrm>
            <a:off x="1799617" y="1690689"/>
            <a:ext cx="7937770" cy="4410097"/>
          </a:xfrm>
        </p:spPr>
      </p:pic>
      <p:sp>
        <p:nvSpPr>
          <p:cNvPr id="4" name="Footer Placeholder 1">
            <a:extLst>
              <a:ext uri="{FF2B5EF4-FFF2-40B4-BE49-F238E27FC236}">
                <a16:creationId xmlns:a16="http://schemas.microsoft.com/office/drawing/2014/main" id="{F80CAB55-C09E-8DAE-1BD7-395069242AE1}"/>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388584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B37C-BF88-3B1E-F4D3-494670EFB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E50F8-0B11-0E60-079D-9ECA67B4EE1A}"/>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Backend Development</a:t>
            </a:r>
          </a:p>
        </p:txBody>
      </p:sp>
      <p:sp>
        <p:nvSpPr>
          <p:cNvPr id="3" name="Content Placeholder 2">
            <a:extLst>
              <a:ext uri="{FF2B5EF4-FFF2-40B4-BE49-F238E27FC236}">
                <a16:creationId xmlns:a16="http://schemas.microsoft.com/office/drawing/2014/main" id="{393556F1-EC3E-A844-6640-729FF375482E}"/>
              </a:ext>
            </a:extLst>
          </p:cNvPr>
          <p:cNvSpPr>
            <a:spLocks noGrp="1"/>
          </p:cNvSpPr>
          <p:nvPr>
            <p:ph idx="1"/>
          </p:nvPr>
        </p:nvSpPr>
        <p:spPr/>
        <p:txBody>
          <a:bodyPr>
            <a:noAutofit/>
          </a:bodyPr>
          <a:lstStyle/>
          <a:p>
            <a:pPr marL="0" indent="0" algn="l" fontAlgn="base">
              <a:lnSpc>
                <a:spcPct val="150000"/>
              </a:lnSpc>
              <a:spcBef>
                <a:spcPts val="1800"/>
              </a:spcBef>
              <a:buNone/>
            </a:pPr>
            <a:r>
              <a:rPr lang="en-US" sz="2400" b="1" i="0" u="sng" dirty="0">
                <a:solidFill>
                  <a:srgbClr val="273239"/>
                </a:solidFill>
                <a:effectLst/>
                <a:latin typeface="Times New Roman" panose="02020603050405020304" pitchFamily="18" charset="0"/>
                <a:cs typeface="Times New Roman" panose="02020603050405020304" pitchFamily="18" charset="0"/>
              </a:rPr>
              <a:t>Server-side Programming Languages and Frameworks</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PHP:</a:t>
            </a:r>
            <a:r>
              <a:rPr lang="en-US" sz="2400" b="1" u="sng" dirty="0">
                <a:solidFill>
                  <a:srgbClr val="00B0F0"/>
                </a:solidFill>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PHP is a server-side scripting language designed specifically for web development.</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Java:</a:t>
            </a:r>
            <a:r>
              <a:rPr lang="en-US" sz="2400" b="1" u="sng" dirty="0">
                <a:solidFill>
                  <a:srgbClr val="00B0F0"/>
                </a:solidFill>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Java is one of the most popular and widely used programming languages. It is highly scalable.</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Python:</a:t>
            </a:r>
            <a:r>
              <a:rPr lang="en-US" sz="2400" b="1" u="sng" dirty="0">
                <a:solidFill>
                  <a:srgbClr val="00B0F0"/>
                </a:solidFill>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Python is a programming language that lets you work quickly and integrate systems more efficiently.</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endParaRPr>
          </a:p>
        </p:txBody>
      </p:sp>
      <p:sp>
        <p:nvSpPr>
          <p:cNvPr id="4" name="Footer Placeholder 1">
            <a:extLst>
              <a:ext uri="{FF2B5EF4-FFF2-40B4-BE49-F238E27FC236}">
                <a16:creationId xmlns:a16="http://schemas.microsoft.com/office/drawing/2014/main" id="{D1FF85E7-54F6-7C8B-9957-FB38A1F652C8}"/>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173996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ED84E-0222-EEFD-F171-FE311FB98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31DE3-6B86-FDD7-7343-A2FCE8014A1E}"/>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Web Development – Backend Development</a:t>
            </a:r>
          </a:p>
        </p:txBody>
      </p:sp>
      <p:sp>
        <p:nvSpPr>
          <p:cNvPr id="3" name="Content Placeholder 2">
            <a:extLst>
              <a:ext uri="{FF2B5EF4-FFF2-40B4-BE49-F238E27FC236}">
                <a16:creationId xmlns:a16="http://schemas.microsoft.com/office/drawing/2014/main" id="{7823C92E-1677-7FB7-1375-50D2C673D13D}"/>
              </a:ext>
            </a:extLst>
          </p:cNvPr>
          <p:cNvSpPr>
            <a:spLocks noGrp="1"/>
          </p:cNvSpPr>
          <p:nvPr>
            <p:ph idx="1"/>
          </p:nvPr>
        </p:nvSpPr>
        <p:spPr/>
        <p:txBody>
          <a:bodyPr>
            <a:noAutofit/>
          </a:bodyPr>
          <a:lstStyle/>
          <a:p>
            <a:pPr marL="0" indent="0" algn="l" fontAlgn="base">
              <a:lnSpc>
                <a:spcPct val="150000"/>
              </a:lnSpc>
              <a:spcBef>
                <a:spcPts val="1800"/>
              </a:spcBef>
              <a:buNone/>
            </a:pPr>
            <a:r>
              <a:rPr lang="en-US" sz="2400" b="1" i="0" u="sng" dirty="0">
                <a:solidFill>
                  <a:srgbClr val="273239"/>
                </a:solidFill>
                <a:effectLst/>
                <a:latin typeface="Times New Roman" panose="02020603050405020304" pitchFamily="18" charset="0"/>
                <a:cs typeface="Times New Roman" panose="02020603050405020304" pitchFamily="18" charset="0"/>
              </a:rPr>
              <a:t>Server-side Programming Languages and Frameworks</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Node.js:</a:t>
            </a:r>
            <a:r>
              <a:rPr lang="en-US" sz="2400" b="1" u="sng" dirty="0">
                <a:solidFill>
                  <a:srgbClr val="00B0F0"/>
                </a:solidFill>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Node.js is an open source and cross-platform runtime environment for executing JavaScript code outside a browser.</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Ruby:</a:t>
            </a:r>
            <a:r>
              <a:rPr lang="en-US" sz="2400" b="1" u="sng" dirty="0">
                <a:solidFill>
                  <a:srgbClr val="00B0F0"/>
                </a:solidFill>
                <a:latin typeface="Times New Roman" panose="02020603050405020304" pitchFamily="18" charset="0"/>
                <a:cs typeface="Times New Roman" panose="02020603050405020304" pitchFamily="18" charset="0"/>
              </a:rPr>
              <a:t> </a:t>
            </a:r>
            <a:r>
              <a:rPr lang="en-US" sz="2400" b="0" i="0" dirty="0">
                <a:solidFill>
                  <a:srgbClr val="273239"/>
                </a:solidFill>
                <a:effectLst/>
                <a:latin typeface="Times New Roman" panose="02020603050405020304" pitchFamily="18" charset="0"/>
                <a:cs typeface="Times New Roman" panose="02020603050405020304" pitchFamily="18" charset="0"/>
              </a:rPr>
              <a:t>Ruby is a dynamic, reflective, object-oriented, general-purpose programming language.</a:t>
            </a:r>
          </a:p>
          <a:p>
            <a:pPr algn="l" fontAlgn="base">
              <a:lnSpc>
                <a:spcPct val="150000"/>
              </a:lnSpc>
              <a:buFont typeface="Arial" panose="020B0604020202020204" pitchFamily="34" charset="0"/>
              <a:buChar char="•"/>
            </a:pPr>
            <a:r>
              <a:rPr lang="en-US" sz="2400" b="1" u="sng" dirty="0">
                <a:solidFill>
                  <a:srgbClr val="00B0F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a:t>
            </a:r>
            <a:r>
              <a:rPr lang="en-US" sz="2400" b="1" u="sng" dirty="0">
                <a:solidFill>
                  <a:srgbClr val="00B0F0"/>
                </a:solidFill>
                <a:latin typeface="Times New Roman" panose="02020603050405020304" pitchFamily="18" charset="0"/>
                <a:cs typeface="Times New Roman" panose="02020603050405020304" pitchFamily="18" charset="0"/>
              </a:rPr>
              <a:t> : </a:t>
            </a:r>
            <a:r>
              <a:rPr lang="en-US" sz="2400" b="0" i="0" dirty="0">
                <a:solidFill>
                  <a:srgbClr val="273239"/>
                </a:solidFill>
                <a:effectLst/>
                <a:latin typeface="Times New Roman" panose="02020603050405020304" pitchFamily="18" charset="0"/>
                <a:cs typeface="Times New Roman" panose="02020603050405020304" pitchFamily="18" charset="0"/>
              </a:rPr>
              <a:t>C# is a high-level, general-purpose programming language developed by Microsoft.</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endParaRPr>
          </a:p>
        </p:txBody>
      </p:sp>
      <p:sp>
        <p:nvSpPr>
          <p:cNvPr id="4" name="Footer Placeholder 1">
            <a:extLst>
              <a:ext uri="{FF2B5EF4-FFF2-40B4-BE49-F238E27FC236}">
                <a16:creationId xmlns:a16="http://schemas.microsoft.com/office/drawing/2014/main" id="{F0AFCB64-D099-7DA3-7C9F-830BFB1DE70B}"/>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065875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27E6-3ABF-C87E-27CA-1FEADB46F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91345-3DFB-8421-2472-CDC6F1101203}"/>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61BD95BD-274B-8C98-7EA0-56D3EC65EBEF}"/>
              </a:ext>
            </a:extLst>
          </p:cNvPr>
          <p:cNvSpPr>
            <a:spLocks noGrp="1"/>
          </p:cNvSpPr>
          <p:nvPr>
            <p:ph idx="1"/>
          </p:nvPr>
        </p:nvSpPr>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Mobile apps are majorly developed for 3 Operating System. </a:t>
            </a:r>
          </a:p>
          <a:p>
            <a:pPr marL="0" indent="0" algn="just">
              <a:lnSpc>
                <a:spcPct val="150000"/>
              </a:lnSpc>
              <a:buNone/>
            </a:pPr>
            <a:r>
              <a:rPr lang="en-US" dirty="0">
                <a:latin typeface="Times New Roman" panose="02020603050405020304" pitchFamily="18" charset="0"/>
                <a:cs typeface="Times New Roman" panose="02020603050405020304" pitchFamily="18" charset="0"/>
              </a:rPr>
              <a:t>1. Android </a:t>
            </a:r>
          </a:p>
          <a:p>
            <a:pPr marL="0" indent="0" algn="just">
              <a:lnSpc>
                <a:spcPct val="150000"/>
              </a:lnSpc>
              <a:buNone/>
            </a:pPr>
            <a:r>
              <a:rPr lang="en-US" dirty="0">
                <a:latin typeface="Times New Roman" panose="02020603050405020304" pitchFamily="18" charset="0"/>
                <a:cs typeface="Times New Roman" panose="02020603050405020304" pitchFamily="18" charset="0"/>
              </a:rPr>
              <a:t>2. IOS </a:t>
            </a:r>
          </a:p>
          <a:p>
            <a:pPr marL="0" indent="0" algn="just">
              <a:lnSpc>
                <a:spcPct val="150000"/>
              </a:lnSpc>
              <a:buNone/>
            </a:pPr>
            <a:r>
              <a:rPr lang="en-US" dirty="0">
                <a:latin typeface="Times New Roman" panose="02020603050405020304" pitchFamily="18" charset="0"/>
                <a:cs typeface="Times New Roman" panose="02020603050405020304" pitchFamily="18" charset="0"/>
              </a:rPr>
              <a:t>3. Windows</a:t>
            </a:r>
          </a:p>
        </p:txBody>
      </p:sp>
      <p:sp>
        <p:nvSpPr>
          <p:cNvPr id="4" name="Footer Placeholder 1">
            <a:extLst>
              <a:ext uri="{FF2B5EF4-FFF2-40B4-BE49-F238E27FC236}">
                <a16:creationId xmlns:a16="http://schemas.microsoft.com/office/drawing/2014/main" id="{53EFC7BB-2AD1-62E1-C24E-BEA2F1DF3D06}"/>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4141383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EDAE-076D-B7A6-10CB-9876FAAB9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BA809-3009-7EAC-D31A-A152B06B69B7}"/>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8689E949-90D6-9366-4FD1-F9091625D47D}"/>
              </a:ext>
            </a:extLst>
          </p:cNvPr>
          <p:cNvSpPr>
            <a:spLocks noGrp="1"/>
          </p:cNvSpPr>
          <p:nvPr>
            <p:ph idx="1"/>
          </p:nvPr>
        </p:nvSpPr>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There are </a:t>
            </a:r>
            <a:r>
              <a:rPr lang="en-US" b="1" dirty="0">
                <a:solidFill>
                  <a:srgbClr val="002060"/>
                </a:solidFill>
                <a:latin typeface="Times New Roman" panose="02020603050405020304" pitchFamily="18" charset="0"/>
                <a:cs typeface="Times New Roman" panose="02020603050405020304" pitchFamily="18" charset="0"/>
              </a:rPr>
              <a:t>3 different ways to develop Mobile apps</a:t>
            </a:r>
            <a:r>
              <a:rPr lang="en-US" dirty="0">
                <a:latin typeface="Times New Roman" panose="02020603050405020304" pitchFamily="18" charset="0"/>
                <a:cs typeface="Times New Roman" panose="02020603050405020304" pitchFamily="18" charset="0"/>
              </a:rPr>
              <a:t>: </a:t>
            </a:r>
          </a:p>
          <a:p>
            <a:pPr marL="0" indent="0" algn="just">
              <a:lnSpc>
                <a:spcPct val="150000"/>
              </a:lnSpc>
              <a:buNone/>
            </a:pPr>
            <a:r>
              <a:rPr lang="en-US" dirty="0">
                <a:latin typeface="Times New Roman" panose="02020603050405020304" pitchFamily="18" charset="0"/>
                <a:cs typeface="Times New Roman" panose="02020603050405020304" pitchFamily="18" charset="0"/>
              </a:rPr>
              <a:t>1. 1st Party Native App development </a:t>
            </a:r>
          </a:p>
          <a:p>
            <a:pPr marL="0" indent="0" algn="just">
              <a:lnSpc>
                <a:spcPct val="150000"/>
              </a:lnSpc>
              <a:buNone/>
            </a:pPr>
            <a:r>
              <a:rPr lang="en-US" dirty="0">
                <a:latin typeface="Times New Roman" panose="02020603050405020304" pitchFamily="18" charset="0"/>
                <a:cs typeface="Times New Roman" panose="02020603050405020304" pitchFamily="18" charset="0"/>
              </a:rPr>
              <a:t>2. Progressive web Application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3. Cross-Platform Application </a:t>
            </a:r>
          </a:p>
        </p:txBody>
      </p:sp>
      <p:sp>
        <p:nvSpPr>
          <p:cNvPr id="4" name="Footer Placeholder 1">
            <a:extLst>
              <a:ext uri="{FF2B5EF4-FFF2-40B4-BE49-F238E27FC236}">
                <a16:creationId xmlns:a16="http://schemas.microsoft.com/office/drawing/2014/main" id="{214267AB-8F4C-03C7-60E5-E0CBCAC83ABA}"/>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781645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F6CC2-494A-9E9F-4C1F-7BCD4DC1E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DC427-2A55-335E-554B-FD0338852303}"/>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97343474-FE00-8811-D60B-D26822B400E2}"/>
              </a:ext>
            </a:extLst>
          </p:cNvPr>
          <p:cNvSpPr>
            <a:spLocks noGrp="1"/>
          </p:cNvSpPr>
          <p:nvPr>
            <p:ph idx="1"/>
          </p:nvPr>
        </p:nvSpPr>
        <p:spPr/>
        <p:txBody>
          <a:bodyPr>
            <a:normAutofit fontScale="92500" lnSpcReduction="100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1st Party Native App development: </a:t>
            </a:r>
            <a:r>
              <a:rPr lang="en-US" dirty="0">
                <a:latin typeface="Times New Roman" panose="02020603050405020304" pitchFamily="18" charset="0"/>
                <a:cs typeface="Times New Roman" panose="02020603050405020304" pitchFamily="18" charset="0"/>
              </a:rPr>
              <a:t>These types of apps normally </a:t>
            </a:r>
            <a:r>
              <a:rPr lang="en-US" b="1" dirty="0">
                <a:solidFill>
                  <a:srgbClr val="002060"/>
                </a:solidFill>
                <a:latin typeface="Times New Roman" panose="02020603050405020304" pitchFamily="18" charset="0"/>
                <a:cs typeface="Times New Roman" panose="02020603050405020304" pitchFamily="18" charset="0"/>
              </a:rPr>
              <a:t>run in the native devices</a:t>
            </a:r>
            <a:r>
              <a:rPr lang="en-US" dirty="0">
                <a:latin typeface="Times New Roman" panose="02020603050405020304" pitchFamily="18" charset="0"/>
                <a:cs typeface="Times New Roman" panose="02020603050405020304" pitchFamily="18" charset="0"/>
              </a:rPr>
              <a:t>, that is, it runs only in the OS that it is </a:t>
            </a:r>
            <a:r>
              <a:rPr lang="en-US" sz="2600" b="1" dirty="0">
                <a:solidFill>
                  <a:srgbClr val="002060"/>
                </a:solidFill>
                <a:latin typeface="Times New Roman" panose="02020603050405020304" pitchFamily="18" charset="0"/>
                <a:cs typeface="Times New Roman" panose="02020603050405020304" pitchFamily="18" charset="0"/>
              </a:rPr>
              <a:t>specifically designed </a:t>
            </a:r>
            <a:r>
              <a:rPr lang="en-US" dirty="0">
                <a:latin typeface="Times New Roman" panose="02020603050405020304" pitchFamily="18" charset="0"/>
                <a:cs typeface="Times New Roman" panose="02020603050405020304" pitchFamily="18" charset="0"/>
              </a:rPr>
              <a:t>for it. These apps </a:t>
            </a:r>
            <a:r>
              <a:rPr lang="en-US" sz="2600" b="1" dirty="0">
                <a:solidFill>
                  <a:srgbClr val="002060"/>
                </a:solidFill>
                <a:latin typeface="Times New Roman" panose="02020603050405020304" pitchFamily="18" charset="0"/>
                <a:cs typeface="Times New Roman" panose="02020603050405020304" pitchFamily="18" charset="0"/>
              </a:rPr>
              <a:t>cannot be used on different devices </a:t>
            </a:r>
            <a:r>
              <a:rPr lang="en-US" dirty="0">
                <a:latin typeface="Times New Roman" panose="02020603050405020304" pitchFamily="18" charset="0"/>
                <a:cs typeface="Times New Roman" panose="02020603050405020304" pitchFamily="18" charset="0"/>
              </a:rPr>
              <a:t>using a different OS. The apps that are developed for </a:t>
            </a:r>
            <a:r>
              <a:rPr lang="en-US" sz="2600" b="1" dirty="0">
                <a:solidFill>
                  <a:srgbClr val="002060"/>
                </a:solidFill>
                <a:latin typeface="Times New Roman" panose="02020603050405020304" pitchFamily="18" charset="0"/>
                <a:cs typeface="Times New Roman" panose="02020603050405020304" pitchFamily="18" charset="0"/>
              </a:rPr>
              <a:t>android</a:t>
            </a:r>
            <a:r>
              <a:rPr lang="en-US" dirty="0">
                <a:latin typeface="Times New Roman" panose="02020603050405020304" pitchFamily="18" charset="0"/>
                <a:cs typeface="Times New Roman" panose="02020603050405020304" pitchFamily="18" charset="0"/>
              </a:rPr>
              <a:t> are </a:t>
            </a:r>
            <a:r>
              <a:rPr lang="en-US" sz="2600" b="1" dirty="0">
                <a:solidFill>
                  <a:srgbClr val="002060"/>
                </a:solidFill>
                <a:latin typeface="Times New Roman" panose="02020603050405020304" pitchFamily="18" charset="0"/>
                <a:cs typeface="Times New Roman" panose="02020603050405020304" pitchFamily="18" charset="0"/>
              </a:rPr>
              <a:t>normally coded using Java or Kotlin </a:t>
            </a:r>
            <a:r>
              <a:rPr lang="en-US" dirty="0">
                <a:latin typeface="Times New Roman" panose="02020603050405020304" pitchFamily="18" charset="0"/>
                <a:cs typeface="Times New Roman" panose="02020603050405020304" pitchFamily="18" charset="0"/>
              </a:rPr>
              <a:t>languages. The IDE normally used for android app development is Android Studio which </a:t>
            </a:r>
            <a:r>
              <a:rPr lang="en-US" sz="2600" b="1" dirty="0">
                <a:solidFill>
                  <a:srgbClr val="002060"/>
                </a:solidFill>
                <a:latin typeface="Times New Roman" panose="02020603050405020304" pitchFamily="18" charset="0"/>
                <a:cs typeface="Times New Roman" panose="02020603050405020304" pitchFamily="18" charset="0"/>
              </a:rPr>
              <a:t>provides all features </a:t>
            </a:r>
            <a:r>
              <a:rPr lang="en-US" dirty="0">
                <a:latin typeface="Times New Roman" panose="02020603050405020304" pitchFamily="18" charset="0"/>
                <a:cs typeface="Times New Roman" panose="02020603050405020304" pitchFamily="18" charset="0"/>
              </a:rPr>
              <a:t>and the </a:t>
            </a:r>
            <a:r>
              <a:rPr lang="en-US" sz="2600" b="1" dirty="0">
                <a:solidFill>
                  <a:srgbClr val="002060"/>
                </a:solidFill>
                <a:latin typeface="Times New Roman" panose="02020603050405020304" pitchFamily="18" charset="0"/>
                <a:cs typeface="Times New Roman" panose="02020603050405020304" pitchFamily="18" charset="0"/>
              </a:rPr>
              <a:t>apps that are developed for IOS </a:t>
            </a:r>
            <a:r>
              <a:rPr lang="en-US" dirty="0">
                <a:latin typeface="Times New Roman" panose="02020603050405020304" pitchFamily="18" charset="0"/>
                <a:cs typeface="Times New Roman" panose="02020603050405020304" pitchFamily="18" charset="0"/>
              </a:rPr>
              <a:t>are generally </a:t>
            </a:r>
            <a:r>
              <a:rPr lang="en-US" sz="2600" b="1" dirty="0">
                <a:solidFill>
                  <a:srgbClr val="002060"/>
                </a:solidFill>
                <a:latin typeface="Times New Roman" panose="02020603050405020304" pitchFamily="18" charset="0"/>
                <a:cs typeface="Times New Roman" panose="02020603050405020304" pitchFamily="18" charset="0"/>
              </a:rPr>
              <a:t>coded in Swift language or Objective-C</a:t>
            </a:r>
            <a:r>
              <a:rPr lang="en-US" dirty="0">
                <a:latin typeface="Times New Roman" panose="02020603050405020304" pitchFamily="18" charset="0"/>
                <a:cs typeface="Times New Roman" panose="02020603050405020304" pitchFamily="18" charset="0"/>
              </a:rPr>
              <a:t>. The IDE suggested for IOS App Development is </a:t>
            </a:r>
            <a:r>
              <a:rPr lang="en-US" dirty="0" err="1">
                <a:latin typeface="Times New Roman" panose="02020603050405020304" pitchFamily="18" charset="0"/>
                <a:cs typeface="Times New Roman" panose="02020603050405020304" pitchFamily="18" charset="0"/>
              </a:rPr>
              <a:t>XCode</a:t>
            </a:r>
            <a:r>
              <a:rPr lang="en-US" dirty="0">
                <a:latin typeface="Times New Roman" panose="02020603050405020304" pitchFamily="18" charset="0"/>
                <a:cs typeface="Times New Roman" panose="02020603050405020304" pitchFamily="18" charset="0"/>
              </a:rPr>
              <a:t>.</a:t>
            </a:r>
          </a:p>
        </p:txBody>
      </p:sp>
      <p:sp>
        <p:nvSpPr>
          <p:cNvPr id="4" name="Footer Placeholder 1">
            <a:extLst>
              <a:ext uri="{FF2B5EF4-FFF2-40B4-BE49-F238E27FC236}">
                <a16:creationId xmlns:a16="http://schemas.microsoft.com/office/drawing/2014/main" id="{F520C42A-BA36-D6CD-11B3-C03403766943}"/>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462673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BF3C7-9E53-A275-5E28-98EE91B24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F0FCF-5C6D-82D7-8E28-2363200DF61A}"/>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3AC50891-289B-9DB4-9F3B-DCE5FC2AFD60}"/>
              </a:ext>
            </a:extLst>
          </p:cNvPr>
          <p:cNvSpPr>
            <a:spLocks noGrp="1"/>
          </p:cNvSpPr>
          <p:nvPr>
            <p:ph idx="1"/>
          </p:nvPr>
        </p:nvSpPr>
        <p:spPr/>
        <p:txBody>
          <a:bodyPr>
            <a:normAutofit fontScale="92500" lnSpcReduction="100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Example - </a:t>
            </a:r>
            <a:r>
              <a:rPr lang="en-US" sz="2600" b="1" dirty="0">
                <a:solidFill>
                  <a:srgbClr val="002060"/>
                </a:solidFill>
                <a:latin typeface="Times New Roman" panose="02020603050405020304" pitchFamily="18" charset="0"/>
                <a:cs typeface="Times New Roman" panose="02020603050405020304" pitchFamily="18" charset="0"/>
              </a:rPr>
              <a:t>Here’s an example of a 1st party native app: </a:t>
            </a:r>
          </a:p>
          <a:p>
            <a:pPr marL="0" indent="0" algn="just">
              <a:lnSpc>
                <a:spcPct val="150000"/>
              </a:lnSpc>
              <a:buNone/>
            </a:pPr>
            <a:r>
              <a:rPr lang="en-US" dirty="0">
                <a:latin typeface="Times New Roman" panose="02020603050405020304" pitchFamily="18" charset="0"/>
                <a:cs typeface="Times New Roman" panose="02020603050405020304" pitchFamily="18" charset="0"/>
              </a:rPr>
              <a:t>A retail company wants to improve the in-store shopping experience for its customers. </a:t>
            </a:r>
          </a:p>
          <a:p>
            <a:pPr marL="0" indent="0" algn="just">
              <a:lnSpc>
                <a:spcPct val="150000"/>
              </a:lnSpc>
              <a:buNone/>
            </a:pPr>
            <a:r>
              <a:rPr lang="en-US" dirty="0">
                <a:latin typeface="Times New Roman" panose="02020603050405020304" pitchFamily="18" charset="0"/>
                <a:cs typeface="Times New Roman" panose="02020603050405020304" pitchFamily="18" charset="0"/>
              </a:rPr>
              <a:t>They develop a 1st party native app that allows customers to: </a:t>
            </a:r>
          </a:p>
          <a:p>
            <a:pPr marL="0" indent="0" algn="just">
              <a:lnSpc>
                <a:spcPct val="150000"/>
              </a:lnSpc>
              <a:buNone/>
            </a:pPr>
            <a:r>
              <a:rPr lang="en-US" dirty="0">
                <a:latin typeface="Times New Roman" panose="02020603050405020304" pitchFamily="18" charset="0"/>
                <a:cs typeface="Times New Roman" panose="02020603050405020304" pitchFamily="18" charset="0"/>
              </a:rPr>
              <a:t>• Browse the store’s inventory and product information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 Create a shopping list </a:t>
            </a:r>
          </a:p>
          <a:p>
            <a:pPr marL="0" indent="0" algn="just">
              <a:lnSpc>
                <a:spcPct val="150000"/>
              </a:lnSpc>
              <a:buNone/>
            </a:pPr>
            <a:r>
              <a:rPr lang="en-US" dirty="0">
                <a:latin typeface="Times New Roman" panose="02020603050405020304" pitchFamily="18" charset="0"/>
                <a:cs typeface="Times New Roman" panose="02020603050405020304" pitchFamily="18" charset="0"/>
              </a:rPr>
              <a:t>• Scan barcodes to view product information and reviews </a:t>
            </a:r>
          </a:p>
        </p:txBody>
      </p:sp>
      <p:sp>
        <p:nvSpPr>
          <p:cNvPr id="4" name="Footer Placeholder 1">
            <a:extLst>
              <a:ext uri="{FF2B5EF4-FFF2-40B4-BE49-F238E27FC236}">
                <a16:creationId xmlns:a16="http://schemas.microsoft.com/office/drawing/2014/main" id="{BD7E1939-1D05-F8D9-71D0-6B8C2CB616F9}"/>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3538228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DF8AE-60D9-881E-BCAD-A67C49027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5B91D-F3D8-4C9A-6886-471CECBCCCB1}"/>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852D82E5-CC6F-EBDB-BEE0-3D2BF919315C}"/>
              </a:ext>
            </a:extLst>
          </p:cNvPr>
          <p:cNvSpPr>
            <a:spLocks noGrp="1"/>
          </p:cNvSpPr>
          <p:nvPr>
            <p:ph idx="1"/>
          </p:nvPr>
        </p:nvSpPr>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Locate items in the store using an interactive map </a:t>
            </a:r>
          </a:p>
          <a:p>
            <a:pPr marL="0" indent="0" algn="just">
              <a:lnSpc>
                <a:spcPct val="150000"/>
              </a:lnSpc>
              <a:buNone/>
            </a:pPr>
            <a:r>
              <a:rPr lang="en-US" dirty="0">
                <a:latin typeface="Times New Roman" panose="02020603050405020304" pitchFamily="18" charset="0"/>
                <a:cs typeface="Times New Roman" panose="02020603050405020304" pitchFamily="18" charset="0"/>
              </a:rPr>
              <a:t>• Pay for items directly through the app, without having to wait in line at the register </a:t>
            </a:r>
          </a:p>
          <a:p>
            <a:pPr marL="0" indent="0" algn="just">
              <a:lnSpc>
                <a:spcPct val="150000"/>
              </a:lnSpc>
              <a:buNone/>
            </a:pPr>
            <a:r>
              <a:rPr lang="en-US" dirty="0">
                <a:latin typeface="Times New Roman" panose="02020603050405020304" pitchFamily="18" charset="0"/>
                <a:cs typeface="Times New Roman" panose="02020603050405020304" pitchFamily="18" charset="0"/>
              </a:rPr>
              <a:t>• The app is only available to the company’s customers and can only be used in their physical stores. The app is designed to integrate with the company’s existing systems, such as inventory management and point-of-sale systems. </a:t>
            </a:r>
          </a:p>
        </p:txBody>
      </p:sp>
      <p:sp>
        <p:nvSpPr>
          <p:cNvPr id="4" name="Footer Placeholder 1">
            <a:extLst>
              <a:ext uri="{FF2B5EF4-FFF2-40B4-BE49-F238E27FC236}">
                <a16:creationId xmlns:a16="http://schemas.microsoft.com/office/drawing/2014/main" id="{993CB5B7-7BA4-774A-1195-0BDD62AD2343}"/>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999052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8D677-8B68-B6FE-7948-30452F667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1A7F3-1056-042E-563B-89DBAAFAFF69}"/>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BCBF84CD-315F-C5D0-2259-F23BD10E583F}"/>
              </a:ext>
            </a:extLst>
          </p:cNvPr>
          <p:cNvSpPr>
            <a:spLocks noGrp="1"/>
          </p:cNvSpPr>
          <p:nvPr>
            <p:ph idx="1"/>
          </p:nvPr>
        </p:nvSpPr>
        <p:spPr/>
        <p:txBody>
          <a:bodyPr>
            <a:normAutofit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This app is developed by the retail company for their own use, to improve the in-store customer experience, increase sales and gain insights from the customer’s behavior. </a:t>
            </a:r>
          </a:p>
          <a:p>
            <a:pPr marL="0" indent="0" algn="just">
              <a:lnSpc>
                <a:spcPct val="150000"/>
              </a:lnSpc>
              <a:buNone/>
            </a:pPr>
            <a:r>
              <a:rPr lang="en-US" dirty="0">
                <a:latin typeface="Times New Roman" panose="02020603050405020304" pitchFamily="18" charset="0"/>
                <a:cs typeface="Times New Roman" panose="02020603050405020304" pitchFamily="18" charset="0"/>
              </a:rPr>
              <a:t>In this example, the retail company is the 1st party, and the app is a native app, because it is developed for the specific platform (iOS or Android) and can take full advantage of the device’s capabilities and features. </a:t>
            </a:r>
          </a:p>
        </p:txBody>
      </p:sp>
      <p:sp>
        <p:nvSpPr>
          <p:cNvPr id="4" name="Footer Placeholder 1">
            <a:extLst>
              <a:ext uri="{FF2B5EF4-FFF2-40B4-BE49-F238E27FC236}">
                <a16:creationId xmlns:a16="http://schemas.microsoft.com/office/drawing/2014/main" id="{AC3F09B2-A36C-F325-1B80-63A900862CDB}"/>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4044734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98E06-7618-B20D-C386-8FB37C50E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C8516-D1BD-66CB-132B-1604EC02FDEB}"/>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A5EADAF6-E245-052C-D519-49AEEE43C9C9}"/>
              </a:ext>
            </a:extLst>
          </p:cNvPr>
          <p:cNvSpPr>
            <a:spLocks noGrp="1"/>
          </p:cNvSpPr>
          <p:nvPr>
            <p:ph idx="1"/>
          </p:nvPr>
        </p:nvSpPr>
        <p:spPr/>
        <p:txBody>
          <a:bodyPr>
            <a:normAutofit fontScale="925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2. Progressive web Application: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Progressive web apps are essentially a website which runs locally on your device. The technologies used are Microsoft </a:t>
            </a:r>
            <a:r>
              <a:rPr lang="en-US" dirty="0" err="1">
                <a:latin typeface="Times New Roman" panose="02020603050405020304" pitchFamily="18" charset="0"/>
                <a:cs typeface="Times New Roman" panose="02020603050405020304" pitchFamily="18" charset="0"/>
              </a:rPr>
              <a:t>Blazor</a:t>
            </a:r>
            <a:r>
              <a:rPr lang="en-US" dirty="0">
                <a:latin typeface="Times New Roman" panose="02020603050405020304" pitchFamily="18" charset="0"/>
                <a:cs typeface="Times New Roman" panose="02020603050405020304" pitchFamily="18" charset="0"/>
              </a:rPr>
              <a:t>, React, Angular JS, Native Script, Iconic. These technologies normally used for web development propose. The apps’ UI is developed the same way as they are developed while developing the website. This category has many ups and downs let’s start with the advantages of Progressive web apps.</a:t>
            </a:r>
          </a:p>
        </p:txBody>
      </p:sp>
      <p:sp>
        <p:nvSpPr>
          <p:cNvPr id="4" name="Footer Placeholder 1">
            <a:extLst>
              <a:ext uri="{FF2B5EF4-FFF2-40B4-BE49-F238E27FC236}">
                <a16:creationId xmlns:a16="http://schemas.microsoft.com/office/drawing/2014/main" id="{DA0D17EC-D0B8-6EC7-021F-475FAFC030DA}"/>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2228640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7621D-02F0-7F37-1F0C-A33732226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3ED9E-CDDC-F807-380D-0E019AF1635F}"/>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2720CE79-CA36-601E-B5F3-5B970AD8F073}"/>
              </a:ext>
            </a:extLst>
          </p:cNvPr>
          <p:cNvSpPr>
            <a:spLocks noGrp="1"/>
          </p:cNvSpPr>
          <p:nvPr>
            <p:ph idx="1"/>
          </p:nvPr>
        </p:nvSpPr>
        <p:spPr/>
        <p:txBody>
          <a:bodyPr>
            <a:normAutofit fontScale="925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Example - </a:t>
            </a:r>
            <a:r>
              <a:rPr lang="en-US" b="1" dirty="0">
                <a:solidFill>
                  <a:srgbClr val="002060"/>
                </a:solidFill>
                <a:latin typeface="Times New Roman" panose="02020603050405020304" pitchFamily="18" charset="0"/>
                <a:cs typeface="Times New Roman" panose="02020603050405020304" pitchFamily="18" charset="0"/>
              </a:rPr>
              <a:t>Here’s an example of a Progressive Web App: </a:t>
            </a:r>
          </a:p>
          <a:p>
            <a:pPr marL="0" indent="0" algn="just">
              <a:lnSpc>
                <a:spcPct val="150000"/>
              </a:lnSpc>
              <a:buNone/>
            </a:pPr>
            <a:r>
              <a:rPr lang="en-US" dirty="0">
                <a:latin typeface="Times New Roman" panose="02020603050405020304" pitchFamily="18" charset="0"/>
                <a:cs typeface="Times New Roman" panose="02020603050405020304" pitchFamily="18" charset="0"/>
              </a:rPr>
              <a:t>A news website wants to provide its users with a better mobile experience. They develop a Progressive Web App that: </a:t>
            </a:r>
          </a:p>
          <a:p>
            <a:pPr marL="0" indent="0" algn="just">
              <a:lnSpc>
                <a:spcPct val="150000"/>
              </a:lnSpc>
              <a:buNone/>
            </a:pPr>
            <a:r>
              <a:rPr lang="en-US" dirty="0">
                <a:latin typeface="Times New Roman" panose="02020603050405020304" pitchFamily="18" charset="0"/>
                <a:cs typeface="Times New Roman" panose="02020603050405020304" pitchFamily="18" charset="0"/>
              </a:rPr>
              <a:t>• Allows users to access the website offline by storing content on the user’s device </a:t>
            </a:r>
          </a:p>
          <a:p>
            <a:pPr marL="0" indent="0" algn="just">
              <a:lnSpc>
                <a:spcPct val="150000"/>
              </a:lnSpc>
              <a:buNone/>
            </a:pPr>
            <a:r>
              <a:rPr lang="en-US" dirty="0">
                <a:latin typeface="Times New Roman" panose="02020603050405020304" pitchFamily="18" charset="0"/>
                <a:cs typeface="Times New Roman" panose="02020603050405020304" pitchFamily="18" charset="0"/>
              </a:rPr>
              <a:t>• Sends push notifications to users to alert them of breaking news </a:t>
            </a:r>
          </a:p>
          <a:p>
            <a:pPr marL="0" indent="0" algn="just">
              <a:lnSpc>
                <a:spcPct val="150000"/>
              </a:lnSpc>
              <a:buNone/>
            </a:pPr>
            <a:r>
              <a:rPr lang="en-US" dirty="0">
                <a:latin typeface="Times New Roman" panose="02020603050405020304" pitchFamily="18" charset="0"/>
                <a:cs typeface="Times New Roman" panose="02020603050405020304" pitchFamily="18" charset="0"/>
              </a:rPr>
              <a:t>• Can be installed on the user’s home screen like a native app</a:t>
            </a:r>
          </a:p>
        </p:txBody>
      </p:sp>
      <p:sp>
        <p:nvSpPr>
          <p:cNvPr id="4" name="Footer Placeholder 1">
            <a:extLst>
              <a:ext uri="{FF2B5EF4-FFF2-40B4-BE49-F238E27FC236}">
                <a16:creationId xmlns:a16="http://schemas.microsoft.com/office/drawing/2014/main" id="{99055C70-4835-A530-1BDD-83E8180287E3}"/>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520217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DFC3F-E2D4-F9EB-6ED5-938E4D426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AEAEA-83F3-9134-8B92-30C3E04C5B54}"/>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9ED33A7C-C2DD-0371-E426-89709BF11892}"/>
              </a:ext>
            </a:extLst>
          </p:cNvPr>
          <p:cNvSpPr>
            <a:spLocks noGrp="1"/>
          </p:cNvSpPr>
          <p:nvPr>
            <p:ph idx="1"/>
          </p:nvPr>
        </p:nvSpPr>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Provides a fast and smooth browsing experience </a:t>
            </a:r>
          </a:p>
          <a:p>
            <a:pPr marL="0" indent="0" algn="just">
              <a:lnSpc>
                <a:spcPct val="150000"/>
              </a:lnSpc>
              <a:buNone/>
            </a:pPr>
            <a:r>
              <a:rPr lang="en-US" dirty="0">
                <a:latin typeface="Times New Roman" panose="02020603050405020304" pitchFamily="18" charset="0"/>
                <a:cs typeface="Times New Roman" panose="02020603050405020304" pitchFamily="18" charset="0"/>
              </a:rPr>
              <a:t>• Has a responsive design that adapts to different screen sizes </a:t>
            </a:r>
          </a:p>
          <a:p>
            <a:pPr marL="0" indent="0" algn="just">
              <a:lnSpc>
                <a:spcPct val="150000"/>
              </a:lnSpc>
              <a:buNone/>
            </a:pPr>
            <a:r>
              <a:rPr lang="en-US" dirty="0">
                <a:latin typeface="Times New Roman" panose="02020603050405020304" pitchFamily="18" charset="0"/>
                <a:cs typeface="Times New Roman" panose="02020603050405020304" pitchFamily="18" charset="0"/>
              </a:rPr>
              <a:t>• Users can access the PWA by visiting the website on their mobile browser. They are prompted to install the PWA on their home screen, which allows them to access the website offline and receive push notifications. </a:t>
            </a:r>
          </a:p>
        </p:txBody>
      </p:sp>
      <p:sp>
        <p:nvSpPr>
          <p:cNvPr id="4" name="Footer Placeholder 1">
            <a:extLst>
              <a:ext uri="{FF2B5EF4-FFF2-40B4-BE49-F238E27FC236}">
                <a16:creationId xmlns:a16="http://schemas.microsoft.com/office/drawing/2014/main" id="{DF01086F-F850-C7FA-1CDB-58AF07533990}"/>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735170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8216-92B7-990B-FA21-0E8385C2D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A2D75-FC91-9E83-66C1-300C88C28F30}"/>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19560940-7389-612E-E4DB-2206638962AC}"/>
              </a:ext>
            </a:extLst>
          </p:cNvPr>
          <p:cNvSpPr>
            <a:spLocks noGrp="1"/>
          </p:cNvSpPr>
          <p:nvPr>
            <p:ph idx="1"/>
          </p:nvPr>
        </p:nvSpPr>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this example, the news website is the 1st party and the app is a Progressive web app, because it can be accessed through a web browser and can be installed on the user’s device like a native app. It also allows users to access the content offline and have a fast and smooth experience. </a:t>
            </a:r>
          </a:p>
        </p:txBody>
      </p:sp>
      <p:sp>
        <p:nvSpPr>
          <p:cNvPr id="4" name="Footer Placeholder 1">
            <a:extLst>
              <a:ext uri="{FF2B5EF4-FFF2-40B4-BE49-F238E27FC236}">
                <a16:creationId xmlns:a16="http://schemas.microsoft.com/office/drawing/2014/main" id="{B1A0401D-D9CE-2754-8ACD-65EC657BB94F}"/>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822383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59E1B-DDDD-E2FF-8440-D643FEBDA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065CB-95AB-E0E6-6556-F92CC5B25ABB}"/>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F113BE75-5831-27FA-FC46-7A4208DD34C3}"/>
              </a:ext>
            </a:extLst>
          </p:cNvPr>
          <p:cNvSpPr>
            <a:spLocks noGrp="1"/>
          </p:cNvSpPr>
          <p:nvPr>
            <p:ph idx="1"/>
          </p:nvPr>
        </p:nvSpPr>
        <p:spPr/>
        <p:txBody>
          <a:bodyPr>
            <a:normAutofit lnSpcReduction="100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3. Cross-Platform Application: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These are frameworks that allow developing total native applications which have access to all the native features of IOS and Android but with the same code base. These apps run on both Android and IOS. So normally the development speeds of these apps are very fast and the maintenance cost is low. The performance speed is comparatively low to 1st party native apps but faster than PWA. </a:t>
            </a:r>
          </a:p>
        </p:txBody>
      </p:sp>
      <p:sp>
        <p:nvSpPr>
          <p:cNvPr id="4" name="Footer Placeholder 1">
            <a:extLst>
              <a:ext uri="{FF2B5EF4-FFF2-40B4-BE49-F238E27FC236}">
                <a16:creationId xmlns:a16="http://schemas.microsoft.com/office/drawing/2014/main" id="{1F4AFC5D-EB41-8EEE-1DD1-962C448605ED}"/>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536984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C562-FED9-76DA-9631-502A95D66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A9667-7197-1244-AA5C-5FEA95A98788}"/>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954BAE06-1D4E-FD07-E53E-30DEC80BEC6A}"/>
              </a:ext>
            </a:extLst>
          </p:cNvPr>
          <p:cNvSpPr>
            <a:spLocks noGrp="1"/>
          </p:cNvSpPr>
          <p:nvPr>
            <p:ph idx="1"/>
          </p:nvPr>
        </p:nvSpPr>
        <p:spPr/>
        <p:txBody>
          <a:bodyPr>
            <a:normAutofit fontScale="85000" lnSpcReduction="10000"/>
          </a:bodyPr>
          <a:lstStyle/>
          <a:p>
            <a:pPr marL="0" indent="0" algn="just">
              <a:lnSpc>
                <a:spcPct val="150000"/>
              </a:lnSpc>
              <a:buNone/>
            </a:pPr>
            <a:r>
              <a:rPr lang="en-US" b="1" u="sng" dirty="0">
                <a:solidFill>
                  <a:srgbClr val="002060"/>
                </a:solidFill>
                <a:latin typeface="Times New Roman" panose="02020603050405020304" pitchFamily="18" charset="0"/>
                <a:cs typeface="Times New Roman" panose="02020603050405020304" pitchFamily="18" charset="0"/>
              </a:rPr>
              <a:t>Example</a:t>
            </a:r>
            <a:r>
              <a:rPr lang="en-US" b="1" dirty="0">
                <a:solidFill>
                  <a:srgbClr val="002060"/>
                </a:solidFill>
                <a:latin typeface="Times New Roman" panose="02020603050405020304" pitchFamily="18" charset="0"/>
                <a:cs typeface="Times New Roman" panose="02020603050405020304" pitchFamily="18" charset="0"/>
              </a:rPr>
              <a:t> - Here’s an example of a cross-platform application: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A project management company wants to create a project management tool that can be </a:t>
            </a:r>
          </a:p>
          <a:p>
            <a:pPr marL="0" indent="0" algn="just">
              <a:lnSpc>
                <a:spcPct val="150000"/>
              </a:lnSpc>
              <a:buNone/>
            </a:pPr>
            <a:r>
              <a:rPr lang="en-US" dirty="0">
                <a:latin typeface="Times New Roman" panose="02020603050405020304" pitchFamily="18" charset="0"/>
                <a:cs typeface="Times New Roman" panose="02020603050405020304" pitchFamily="18" charset="0"/>
              </a:rPr>
              <a:t>used by teams on different platforms. They develop a cross-platform application that: </a:t>
            </a:r>
          </a:p>
          <a:p>
            <a:pPr marL="0" indent="0" algn="just">
              <a:lnSpc>
                <a:spcPct val="150000"/>
              </a:lnSpc>
              <a:buNone/>
            </a:pPr>
            <a:r>
              <a:rPr lang="en-US" dirty="0">
                <a:latin typeface="Times New Roman" panose="02020603050405020304" pitchFamily="18" charset="0"/>
                <a:cs typeface="Times New Roman" panose="02020603050405020304" pitchFamily="18" charset="0"/>
              </a:rPr>
              <a:t>• Can be used on Windows, Mac, iOS, and Android devices </a:t>
            </a:r>
          </a:p>
          <a:p>
            <a:pPr marL="0" indent="0" algn="just">
              <a:lnSpc>
                <a:spcPct val="150000"/>
              </a:lnSpc>
              <a:buNone/>
            </a:pPr>
            <a:r>
              <a:rPr lang="en-US" dirty="0">
                <a:latin typeface="Times New Roman" panose="02020603050405020304" pitchFamily="18" charset="0"/>
                <a:cs typeface="Times New Roman" panose="02020603050405020304" pitchFamily="18" charset="0"/>
              </a:rPr>
              <a:t>• Allows users to create and assign tasks, set deadlines, and track progress </a:t>
            </a:r>
          </a:p>
          <a:p>
            <a:pPr marL="0" indent="0" algn="just">
              <a:lnSpc>
                <a:spcPct val="150000"/>
              </a:lnSpc>
              <a:buNone/>
            </a:pPr>
            <a:r>
              <a:rPr lang="en-US" dirty="0">
                <a:latin typeface="Times New Roman" panose="02020603050405020304" pitchFamily="18" charset="0"/>
                <a:cs typeface="Times New Roman" panose="02020603050405020304" pitchFamily="18" charset="0"/>
              </a:rPr>
              <a:t>• Integrates with popular tools such as Google Calendar and Trello </a:t>
            </a:r>
          </a:p>
        </p:txBody>
      </p:sp>
      <p:sp>
        <p:nvSpPr>
          <p:cNvPr id="4" name="Footer Placeholder 1">
            <a:extLst>
              <a:ext uri="{FF2B5EF4-FFF2-40B4-BE49-F238E27FC236}">
                <a16:creationId xmlns:a16="http://schemas.microsoft.com/office/drawing/2014/main" id="{B3AD140B-1950-ECFD-8274-68970A2D1B01}"/>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1079598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817B-1CA3-F5CC-230F-5775985EB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8F9F5-B653-BAB1-FF7F-B1835A0020BC}"/>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98F72B4C-6331-AADE-56C6-C1C30C780B0E}"/>
              </a:ext>
            </a:extLst>
          </p:cNvPr>
          <p:cNvSpPr>
            <a:spLocks noGrp="1"/>
          </p:cNvSpPr>
          <p:nvPr>
            <p:ph idx="1"/>
          </p:nvPr>
        </p:nvSpPr>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Has a user-friendly interface that works seamlessly across all platforms </a:t>
            </a:r>
          </a:p>
          <a:p>
            <a:pPr marL="0" indent="0" algn="just">
              <a:lnSpc>
                <a:spcPct val="150000"/>
              </a:lnSpc>
              <a:buNone/>
            </a:pPr>
            <a:r>
              <a:rPr lang="en-US" dirty="0">
                <a:latin typeface="Times New Roman" panose="02020603050405020304" pitchFamily="18" charset="0"/>
                <a:cs typeface="Times New Roman" panose="02020603050405020304" pitchFamily="18" charset="0"/>
              </a:rPr>
              <a:t>• The application can be downloaded from the company’s website or from different app stores such as App Store, Google Play Store, Microsoft Store, and Mac App Store, depending on the platform. </a:t>
            </a:r>
          </a:p>
        </p:txBody>
      </p:sp>
      <p:sp>
        <p:nvSpPr>
          <p:cNvPr id="4" name="Footer Placeholder 1">
            <a:extLst>
              <a:ext uri="{FF2B5EF4-FFF2-40B4-BE49-F238E27FC236}">
                <a16:creationId xmlns:a16="http://schemas.microsoft.com/office/drawing/2014/main" id="{D0ACE7D6-1476-C449-5723-9EA41F914268}"/>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856475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1358-3E29-7444-37B3-32F40A2A4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29FB6-7BE2-A3C0-637E-AC0646B46BDE}"/>
              </a:ext>
            </a:extLst>
          </p:cNvPr>
          <p:cNvSpPr>
            <a:spLocks noGrp="1"/>
          </p:cNvSpPr>
          <p:nvPr>
            <p:ph type="title"/>
          </p:nvPr>
        </p:nvSpPr>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Basics of Mobile Development</a:t>
            </a:r>
          </a:p>
        </p:txBody>
      </p:sp>
      <p:sp>
        <p:nvSpPr>
          <p:cNvPr id="3" name="Content Placeholder 2">
            <a:extLst>
              <a:ext uri="{FF2B5EF4-FFF2-40B4-BE49-F238E27FC236}">
                <a16:creationId xmlns:a16="http://schemas.microsoft.com/office/drawing/2014/main" id="{9A7EB3BF-4CD6-5817-9893-06FC3AAD32BC}"/>
              </a:ext>
            </a:extLst>
          </p:cNvPr>
          <p:cNvSpPr>
            <a:spLocks noGrp="1"/>
          </p:cNvSpPr>
          <p:nvPr>
            <p:ph idx="1"/>
          </p:nvPr>
        </p:nvSpPr>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This example illustrates how the company developed a project management tool that can be used by teams on different platforms, Windows, Mac, iOS and Android, which is a cross-platform application. It allows teams to collaborate and manage their projects seamlessly, regardless of the platform they use.</a:t>
            </a:r>
          </a:p>
        </p:txBody>
      </p:sp>
      <p:sp>
        <p:nvSpPr>
          <p:cNvPr id="4" name="Footer Placeholder 1">
            <a:extLst>
              <a:ext uri="{FF2B5EF4-FFF2-40B4-BE49-F238E27FC236}">
                <a16:creationId xmlns:a16="http://schemas.microsoft.com/office/drawing/2014/main" id="{7B3DA06A-3391-204B-D0F0-7E7D10B6D9BC}"/>
              </a:ext>
            </a:extLst>
          </p:cNvPr>
          <p:cNvSpPr>
            <a:spLocks noGrp="1"/>
          </p:cNvSpPr>
          <p:nvPr>
            <p:ph type="ftr" sz="quarter" idx="11"/>
          </p:nvPr>
        </p:nvSpPr>
        <p:spPr>
          <a:xfrm>
            <a:off x="3816162" y="6356351"/>
            <a:ext cx="3888165" cy="365125"/>
          </a:xfrm>
        </p:spPr>
        <p:txBody>
          <a:bodyPr/>
          <a:lstStyle/>
          <a:p>
            <a:r>
              <a:rPr lang="pt-BR" dirty="0"/>
              <a:t>CCS332/AD/III CSE/VI SEM/KG-KiTE</a:t>
            </a:r>
            <a:endParaRPr lang="en-IN" dirty="0"/>
          </a:p>
        </p:txBody>
      </p:sp>
    </p:spTree>
    <p:extLst>
      <p:ext uri="{BB962C8B-B14F-4D97-AF65-F5344CB8AC3E}">
        <p14:creationId xmlns:p14="http://schemas.microsoft.com/office/powerpoint/2010/main" val="40253840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465</TotalTime>
  <Words>2050</Words>
  <Application>Microsoft Office PowerPoint</Application>
  <PresentationFormat>Custom</PresentationFormat>
  <Paragraphs>157</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Times New Roman</vt:lpstr>
      <vt:lpstr>Wingdings</vt:lpstr>
      <vt:lpstr>Office Theme</vt:lpstr>
      <vt:lpstr>PowerPoint Presentation</vt:lpstr>
      <vt:lpstr>Prerequisites</vt:lpstr>
      <vt:lpstr>Syllabus</vt:lpstr>
      <vt:lpstr>Course Outcome</vt:lpstr>
      <vt:lpstr>TOPIC</vt:lpstr>
      <vt:lpstr>Basics of Web Development</vt:lpstr>
      <vt:lpstr>Basics of Web Development</vt:lpstr>
      <vt:lpstr>Basics of Web Development - Frontend Development</vt:lpstr>
      <vt:lpstr>Basics of Web Development - Frontend Development</vt:lpstr>
      <vt:lpstr>Basics of Web Development - Frontend Development</vt:lpstr>
      <vt:lpstr>Basics of Web Development - Frontend Development</vt:lpstr>
      <vt:lpstr>Basics of Web Development - Frontend Development</vt:lpstr>
      <vt:lpstr>Basics of Web Development – Backend Development</vt:lpstr>
      <vt:lpstr>Basics of Web Development – Backend Development</vt:lpstr>
      <vt:lpstr>Basics of Web Development – Backend Development</vt:lpstr>
      <vt:lpstr>Basics of Web Development – Backend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lpstr>Basics of Mobile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vivekanandan velusamy V</dc:creator>
  <cp:lastModifiedBy>Suriya Lakshmi</cp:lastModifiedBy>
  <cp:revision>139</cp:revision>
  <dcterms:created xsi:type="dcterms:W3CDTF">2022-11-13T12:28:36Z</dcterms:created>
  <dcterms:modified xsi:type="dcterms:W3CDTF">2025-01-15T06:13:37Z</dcterms:modified>
</cp:coreProperties>
</file>